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8288000" cy="10287000"/>
  <p:notesSz cx="6858000" cy="9144000"/>
  <p:embeddedFontLst>
    <p:embeddedFont>
      <p:font typeface="Noto Sans" panose="020B0502040504020204" pitchFamily="34" charset="0"/>
      <p:regular r:id="rId26"/>
    </p:embeddedFont>
    <p:embeddedFont>
      <p:font typeface="Noto Sans Bold" panose="020B0802040504020204" charset="0"/>
      <p:regular r:id="rId27"/>
    </p:embeddedFont>
    <p:embeddedFont>
      <p:font typeface="Times New Roman Bold" panose="02020803070505020304" pitchFamily="18" charset="0"/>
      <p:regular r:id="rId28"/>
      <p:bold r:id="rId29"/>
    </p:embeddedFont>
    <p:embeddedFont>
      <p:font typeface="Times New Roman Italics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2709"/>
            <a:ext cx="18288000" cy="1643584"/>
            <a:chOff x="0" y="0"/>
            <a:chExt cx="4816593" cy="4328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32878"/>
            </a:xfrm>
            <a:custGeom>
              <a:avLst/>
              <a:gdLst/>
              <a:ahLst/>
              <a:cxnLst/>
              <a:rect l="l" t="t" r="r" b="b"/>
              <a:pathLst>
                <a:path w="4816592" h="432878">
                  <a:moveTo>
                    <a:pt x="0" y="0"/>
                  </a:moveTo>
                  <a:lnTo>
                    <a:pt x="4816592" y="0"/>
                  </a:lnTo>
                  <a:lnTo>
                    <a:pt x="4816592" y="432878"/>
                  </a:lnTo>
                  <a:lnTo>
                    <a:pt x="0" y="432878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49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89607" y="32709"/>
            <a:ext cx="1678186" cy="1643584"/>
          </a:xfrm>
          <a:custGeom>
            <a:avLst/>
            <a:gdLst/>
            <a:ahLst/>
            <a:cxnLst/>
            <a:rect l="l" t="t" r="r" b="b"/>
            <a:pathLst>
              <a:path w="1678186" h="1643584">
                <a:moveTo>
                  <a:pt x="0" y="0"/>
                </a:moveTo>
                <a:lnTo>
                  <a:pt x="1678186" y="0"/>
                </a:lnTo>
                <a:lnTo>
                  <a:pt x="1678186" y="1643584"/>
                </a:lnTo>
                <a:lnTo>
                  <a:pt x="0" y="1643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070941" y="290638"/>
            <a:ext cx="4684222" cy="1127727"/>
          </a:xfrm>
          <a:custGeom>
            <a:avLst/>
            <a:gdLst/>
            <a:ahLst/>
            <a:cxnLst/>
            <a:rect l="l" t="t" r="r" b="b"/>
            <a:pathLst>
              <a:path w="4684222" h="1127727">
                <a:moveTo>
                  <a:pt x="0" y="0"/>
                </a:moveTo>
                <a:lnTo>
                  <a:pt x="4684222" y="0"/>
                </a:lnTo>
                <a:lnTo>
                  <a:pt x="4684222" y="1127726"/>
                </a:lnTo>
                <a:lnTo>
                  <a:pt x="0" y="11277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511" t="-10931" r="-709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657702" y="260796"/>
            <a:ext cx="6548567" cy="1101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7"/>
              </a:lnSpc>
              <a:spcBef>
                <a:spcPct val="0"/>
              </a:spcBef>
            </a:pPr>
            <a:r>
              <a:rPr lang="en-US" sz="307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THỰC TẬP ĐỒ ÁN CƠ SỞ NGÀNH</a:t>
            </a:r>
          </a:p>
          <a:p>
            <a:pPr algn="ctr">
              <a:lnSpc>
                <a:spcPts val="4307"/>
              </a:lnSpc>
              <a:spcBef>
                <a:spcPct val="0"/>
              </a:spcBef>
            </a:pPr>
            <a:r>
              <a:rPr lang="en-US" sz="307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HỌC KỲ I, NĂM HỌC 2025-2026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13052" y="3249347"/>
            <a:ext cx="9461897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XÂY DỰNG TRÒ CHƠI RẮN SĂN MỒI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604671" y="5057775"/>
            <a:ext cx="4654629" cy="2252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 i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Sinh viên thực hiện:</a:t>
            </a:r>
          </a:p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Họ tên: Trần Hoàng Long</a:t>
            </a:r>
          </a:p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MSSV: 110123025</a:t>
            </a:r>
          </a:p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Lớp: DA23TTA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67793" y="5057775"/>
            <a:ext cx="4296251" cy="112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i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Giảng viên hướng dẫn: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ThS. Khấu Văn Nhựt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61440" y="8757920"/>
            <a:ext cx="4765119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Vĩnh Long, tháng 01 năm 2026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gradFill>
                  <a:gsLst>
                    <a:gs pos="0">
                      <a:srgbClr val="0097B2">
                        <a:alpha val="100000"/>
                      </a:srgbClr>
                    </a:gs>
                    <a:gs pos="100000">
                      <a:srgbClr val="7ED957">
                        <a:alpha val="100000"/>
                      </a:srgbClr>
                    </a:gs>
                  </a:gsLst>
                  <a:lin ang="0"/>
                </a:gradFill>
                <a:latin typeface="Noto Sans"/>
                <a:ea typeface="Noto Sans"/>
                <a:cs typeface="Noto Sans"/>
                <a:sym typeface="Noto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2709"/>
            <a:ext cx="18288000" cy="1643584"/>
            <a:chOff x="0" y="0"/>
            <a:chExt cx="4816593" cy="4328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32878"/>
            </a:xfrm>
            <a:custGeom>
              <a:avLst/>
              <a:gdLst/>
              <a:ahLst/>
              <a:cxnLst/>
              <a:rect l="l" t="t" r="r" b="b"/>
              <a:pathLst>
                <a:path w="4816592" h="432878">
                  <a:moveTo>
                    <a:pt x="0" y="0"/>
                  </a:moveTo>
                  <a:lnTo>
                    <a:pt x="4816592" y="0"/>
                  </a:lnTo>
                  <a:lnTo>
                    <a:pt x="4816592" y="432878"/>
                  </a:lnTo>
                  <a:lnTo>
                    <a:pt x="0" y="432878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49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89607" y="32709"/>
            <a:ext cx="1678186" cy="1643584"/>
          </a:xfrm>
          <a:custGeom>
            <a:avLst/>
            <a:gdLst/>
            <a:ahLst/>
            <a:cxnLst/>
            <a:rect l="l" t="t" r="r" b="b"/>
            <a:pathLst>
              <a:path w="1678186" h="1643584">
                <a:moveTo>
                  <a:pt x="0" y="0"/>
                </a:moveTo>
                <a:lnTo>
                  <a:pt x="1678186" y="0"/>
                </a:lnTo>
                <a:lnTo>
                  <a:pt x="1678186" y="1643584"/>
                </a:lnTo>
                <a:lnTo>
                  <a:pt x="0" y="1643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-175214"/>
            <a:ext cx="18288000" cy="175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22"/>
              </a:lnSpc>
              <a:spcBef>
                <a:spcPct val="0"/>
              </a:spcBef>
            </a:pPr>
            <a:r>
              <a:rPr lang="en-US" sz="10015" b="1">
                <a:gradFill>
                  <a:gsLst>
                    <a:gs pos="0">
                      <a:srgbClr val="0097B2">
                        <a:alpha val="100000"/>
                      </a:srgbClr>
                    </a:gs>
                    <a:gs pos="100000">
                      <a:srgbClr val="7ED957">
                        <a:alpha val="100000"/>
                      </a:srgbClr>
                    </a:gs>
                  </a:gsLst>
                  <a:lin ang="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Nội dung trình bày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3070575"/>
            <a:ext cx="4696599" cy="1604645"/>
            <a:chOff x="0" y="0"/>
            <a:chExt cx="1236964" cy="42262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36964" cy="422622"/>
            </a:xfrm>
            <a:custGeom>
              <a:avLst/>
              <a:gdLst/>
              <a:ahLst/>
              <a:cxnLst/>
              <a:rect l="l" t="t" r="r" b="b"/>
              <a:pathLst>
                <a:path w="1236964" h="422622">
                  <a:moveTo>
                    <a:pt x="28023" y="0"/>
                  </a:moveTo>
                  <a:lnTo>
                    <a:pt x="1208941" y="0"/>
                  </a:lnTo>
                  <a:cubicBezTo>
                    <a:pt x="1224418" y="0"/>
                    <a:pt x="1236964" y="12546"/>
                    <a:pt x="1236964" y="28023"/>
                  </a:cubicBezTo>
                  <a:lnTo>
                    <a:pt x="1236964" y="394599"/>
                  </a:lnTo>
                  <a:cubicBezTo>
                    <a:pt x="1236964" y="410076"/>
                    <a:pt x="1224418" y="422622"/>
                    <a:pt x="1208941" y="422622"/>
                  </a:cubicBezTo>
                  <a:lnTo>
                    <a:pt x="28023" y="422622"/>
                  </a:lnTo>
                  <a:cubicBezTo>
                    <a:pt x="12546" y="422622"/>
                    <a:pt x="0" y="410076"/>
                    <a:pt x="0" y="394599"/>
                  </a:cubicBezTo>
                  <a:lnTo>
                    <a:pt x="0" y="28023"/>
                  </a:lnTo>
                  <a:cubicBezTo>
                    <a:pt x="0" y="12546"/>
                    <a:pt x="12546" y="0"/>
                    <a:pt x="2802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236964" cy="4702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3265837"/>
            <a:ext cx="4624000" cy="112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Mở đầu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795700" y="3070575"/>
            <a:ext cx="4696599" cy="1604645"/>
            <a:chOff x="0" y="0"/>
            <a:chExt cx="1236964" cy="42262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6964" cy="422622"/>
            </a:xfrm>
            <a:custGeom>
              <a:avLst/>
              <a:gdLst/>
              <a:ahLst/>
              <a:cxnLst/>
              <a:rect l="l" t="t" r="r" b="b"/>
              <a:pathLst>
                <a:path w="1236964" h="422622">
                  <a:moveTo>
                    <a:pt x="28023" y="0"/>
                  </a:moveTo>
                  <a:lnTo>
                    <a:pt x="1208941" y="0"/>
                  </a:lnTo>
                  <a:cubicBezTo>
                    <a:pt x="1224418" y="0"/>
                    <a:pt x="1236964" y="12546"/>
                    <a:pt x="1236964" y="28023"/>
                  </a:cubicBezTo>
                  <a:lnTo>
                    <a:pt x="1236964" y="394599"/>
                  </a:lnTo>
                  <a:cubicBezTo>
                    <a:pt x="1236964" y="410076"/>
                    <a:pt x="1224418" y="422622"/>
                    <a:pt x="1208941" y="422622"/>
                  </a:cubicBezTo>
                  <a:lnTo>
                    <a:pt x="28023" y="422622"/>
                  </a:lnTo>
                  <a:cubicBezTo>
                    <a:pt x="12546" y="422622"/>
                    <a:pt x="0" y="410076"/>
                    <a:pt x="0" y="394599"/>
                  </a:cubicBezTo>
                  <a:lnTo>
                    <a:pt x="0" y="28023"/>
                  </a:lnTo>
                  <a:cubicBezTo>
                    <a:pt x="0" y="12546"/>
                    <a:pt x="12546" y="0"/>
                    <a:pt x="2802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236964" cy="4702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795700" y="3265837"/>
            <a:ext cx="4561007" cy="112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Tổng quan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gradFill>
                  <a:gsLst>
                    <a:gs pos="0">
                      <a:srgbClr val="0097B2">
                        <a:alpha val="100000"/>
                      </a:srgbClr>
                    </a:gs>
                    <a:gs pos="100000">
                      <a:srgbClr val="7ED957">
                        <a:alpha val="100000"/>
                      </a:srgbClr>
                    </a:gs>
                  </a:gsLst>
                  <a:lin ang="0"/>
                </a:gradFill>
                <a:latin typeface="Noto Sans"/>
                <a:ea typeface="Noto Sans"/>
                <a:cs typeface="Noto Sans"/>
                <a:sym typeface="Noto Sans"/>
              </a:rPr>
              <a:t>2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635329" y="3070575"/>
            <a:ext cx="4696599" cy="1604645"/>
            <a:chOff x="0" y="0"/>
            <a:chExt cx="1236964" cy="42262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36964" cy="422622"/>
            </a:xfrm>
            <a:custGeom>
              <a:avLst/>
              <a:gdLst/>
              <a:ahLst/>
              <a:cxnLst/>
              <a:rect l="l" t="t" r="r" b="b"/>
              <a:pathLst>
                <a:path w="1236964" h="422622">
                  <a:moveTo>
                    <a:pt x="28023" y="0"/>
                  </a:moveTo>
                  <a:lnTo>
                    <a:pt x="1208941" y="0"/>
                  </a:lnTo>
                  <a:cubicBezTo>
                    <a:pt x="1224418" y="0"/>
                    <a:pt x="1236964" y="12546"/>
                    <a:pt x="1236964" y="28023"/>
                  </a:cubicBezTo>
                  <a:lnTo>
                    <a:pt x="1236964" y="394599"/>
                  </a:lnTo>
                  <a:cubicBezTo>
                    <a:pt x="1236964" y="410076"/>
                    <a:pt x="1224418" y="422622"/>
                    <a:pt x="1208941" y="422622"/>
                  </a:cubicBezTo>
                  <a:lnTo>
                    <a:pt x="28023" y="422622"/>
                  </a:lnTo>
                  <a:cubicBezTo>
                    <a:pt x="12546" y="422622"/>
                    <a:pt x="0" y="410076"/>
                    <a:pt x="0" y="394599"/>
                  </a:cubicBezTo>
                  <a:lnTo>
                    <a:pt x="0" y="28023"/>
                  </a:lnTo>
                  <a:cubicBezTo>
                    <a:pt x="0" y="12546"/>
                    <a:pt x="12546" y="0"/>
                    <a:pt x="2802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236964" cy="4702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707957" y="3265837"/>
            <a:ext cx="4696599" cy="112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Cơ sở lý thuyết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28700" y="6385275"/>
            <a:ext cx="4696599" cy="1604645"/>
            <a:chOff x="0" y="0"/>
            <a:chExt cx="1236964" cy="42262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36964" cy="422622"/>
            </a:xfrm>
            <a:custGeom>
              <a:avLst/>
              <a:gdLst/>
              <a:ahLst/>
              <a:cxnLst/>
              <a:rect l="l" t="t" r="r" b="b"/>
              <a:pathLst>
                <a:path w="1236964" h="422622">
                  <a:moveTo>
                    <a:pt x="28023" y="0"/>
                  </a:moveTo>
                  <a:lnTo>
                    <a:pt x="1208941" y="0"/>
                  </a:lnTo>
                  <a:cubicBezTo>
                    <a:pt x="1224418" y="0"/>
                    <a:pt x="1236964" y="12546"/>
                    <a:pt x="1236964" y="28023"/>
                  </a:cubicBezTo>
                  <a:lnTo>
                    <a:pt x="1236964" y="394599"/>
                  </a:lnTo>
                  <a:cubicBezTo>
                    <a:pt x="1236964" y="410076"/>
                    <a:pt x="1224418" y="422622"/>
                    <a:pt x="1208941" y="422622"/>
                  </a:cubicBezTo>
                  <a:lnTo>
                    <a:pt x="28023" y="422622"/>
                  </a:lnTo>
                  <a:cubicBezTo>
                    <a:pt x="12546" y="422622"/>
                    <a:pt x="0" y="410076"/>
                    <a:pt x="0" y="394599"/>
                  </a:cubicBezTo>
                  <a:lnTo>
                    <a:pt x="0" y="28023"/>
                  </a:lnTo>
                  <a:cubicBezTo>
                    <a:pt x="0" y="12546"/>
                    <a:pt x="12546" y="0"/>
                    <a:pt x="2802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236964" cy="4702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28700" y="6580537"/>
            <a:ext cx="4696599" cy="112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Hiện thực hoá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930949" y="6385275"/>
            <a:ext cx="4696599" cy="1604645"/>
            <a:chOff x="0" y="0"/>
            <a:chExt cx="1236964" cy="42262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36964" cy="422622"/>
            </a:xfrm>
            <a:custGeom>
              <a:avLst/>
              <a:gdLst/>
              <a:ahLst/>
              <a:cxnLst/>
              <a:rect l="l" t="t" r="r" b="b"/>
              <a:pathLst>
                <a:path w="1236964" h="422622">
                  <a:moveTo>
                    <a:pt x="28023" y="0"/>
                  </a:moveTo>
                  <a:lnTo>
                    <a:pt x="1208941" y="0"/>
                  </a:lnTo>
                  <a:cubicBezTo>
                    <a:pt x="1224418" y="0"/>
                    <a:pt x="1236964" y="12546"/>
                    <a:pt x="1236964" y="28023"/>
                  </a:cubicBezTo>
                  <a:lnTo>
                    <a:pt x="1236964" y="394599"/>
                  </a:lnTo>
                  <a:cubicBezTo>
                    <a:pt x="1236964" y="410076"/>
                    <a:pt x="1224418" y="422622"/>
                    <a:pt x="1208941" y="422622"/>
                  </a:cubicBezTo>
                  <a:lnTo>
                    <a:pt x="28023" y="422622"/>
                  </a:lnTo>
                  <a:cubicBezTo>
                    <a:pt x="12546" y="422622"/>
                    <a:pt x="0" y="410076"/>
                    <a:pt x="0" y="394599"/>
                  </a:cubicBezTo>
                  <a:lnTo>
                    <a:pt x="0" y="28023"/>
                  </a:lnTo>
                  <a:cubicBezTo>
                    <a:pt x="0" y="12546"/>
                    <a:pt x="12546" y="0"/>
                    <a:pt x="2802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236964" cy="4702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6930949" y="6580537"/>
            <a:ext cx="4696599" cy="112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 quả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2635329" y="6385275"/>
            <a:ext cx="4696599" cy="1604645"/>
            <a:chOff x="0" y="0"/>
            <a:chExt cx="1236964" cy="42262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36964" cy="422622"/>
            </a:xfrm>
            <a:custGeom>
              <a:avLst/>
              <a:gdLst/>
              <a:ahLst/>
              <a:cxnLst/>
              <a:rect l="l" t="t" r="r" b="b"/>
              <a:pathLst>
                <a:path w="1236964" h="422622">
                  <a:moveTo>
                    <a:pt x="28023" y="0"/>
                  </a:moveTo>
                  <a:lnTo>
                    <a:pt x="1208941" y="0"/>
                  </a:lnTo>
                  <a:cubicBezTo>
                    <a:pt x="1224418" y="0"/>
                    <a:pt x="1236964" y="12546"/>
                    <a:pt x="1236964" y="28023"/>
                  </a:cubicBezTo>
                  <a:lnTo>
                    <a:pt x="1236964" y="394599"/>
                  </a:lnTo>
                  <a:cubicBezTo>
                    <a:pt x="1236964" y="410076"/>
                    <a:pt x="1224418" y="422622"/>
                    <a:pt x="1208941" y="422622"/>
                  </a:cubicBezTo>
                  <a:lnTo>
                    <a:pt x="28023" y="422622"/>
                  </a:lnTo>
                  <a:cubicBezTo>
                    <a:pt x="12546" y="422622"/>
                    <a:pt x="0" y="410076"/>
                    <a:pt x="0" y="394599"/>
                  </a:cubicBezTo>
                  <a:lnTo>
                    <a:pt x="0" y="28023"/>
                  </a:lnTo>
                  <a:cubicBezTo>
                    <a:pt x="0" y="12546"/>
                    <a:pt x="12546" y="0"/>
                    <a:pt x="2802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1236964" cy="4702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2635329" y="6580537"/>
            <a:ext cx="4696599" cy="112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 luận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2709"/>
            <a:ext cx="18288000" cy="1643584"/>
            <a:chOff x="0" y="0"/>
            <a:chExt cx="4816593" cy="4328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32878"/>
            </a:xfrm>
            <a:custGeom>
              <a:avLst/>
              <a:gdLst/>
              <a:ahLst/>
              <a:cxnLst/>
              <a:rect l="l" t="t" r="r" b="b"/>
              <a:pathLst>
                <a:path w="4816592" h="432878">
                  <a:moveTo>
                    <a:pt x="0" y="0"/>
                  </a:moveTo>
                  <a:lnTo>
                    <a:pt x="4816592" y="0"/>
                  </a:lnTo>
                  <a:lnTo>
                    <a:pt x="4816592" y="432878"/>
                  </a:lnTo>
                  <a:lnTo>
                    <a:pt x="0" y="432878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49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89607" y="32709"/>
            <a:ext cx="1678186" cy="1643584"/>
          </a:xfrm>
          <a:custGeom>
            <a:avLst/>
            <a:gdLst/>
            <a:ahLst/>
            <a:cxnLst/>
            <a:rect l="l" t="t" r="r" b="b"/>
            <a:pathLst>
              <a:path w="1678186" h="1643584">
                <a:moveTo>
                  <a:pt x="0" y="0"/>
                </a:moveTo>
                <a:lnTo>
                  <a:pt x="1678186" y="0"/>
                </a:lnTo>
                <a:lnTo>
                  <a:pt x="1678186" y="1643584"/>
                </a:lnTo>
                <a:lnTo>
                  <a:pt x="0" y="1643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879021" y="2692335"/>
            <a:ext cx="6380279" cy="6380279"/>
          </a:xfrm>
          <a:custGeom>
            <a:avLst/>
            <a:gdLst/>
            <a:ahLst/>
            <a:cxnLst/>
            <a:rect l="l" t="t" r="r" b="b"/>
            <a:pathLst>
              <a:path w="6380279" h="6380279">
                <a:moveTo>
                  <a:pt x="0" y="0"/>
                </a:moveTo>
                <a:lnTo>
                  <a:pt x="6380279" y="0"/>
                </a:lnTo>
                <a:lnTo>
                  <a:pt x="6380279" y="6380279"/>
                </a:lnTo>
                <a:lnTo>
                  <a:pt x="0" y="6380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757" r="-28757" b="-291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0" y="-175214"/>
            <a:ext cx="18288000" cy="175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22"/>
              </a:lnSpc>
              <a:spcBef>
                <a:spcPct val="0"/>
              </a:spcBef>
            </a:pPr>
            <a:r>
              <a:rPr lang="en-US" sz="10015" b="1">
                <a:gradFill>
                  <a:gsLst>
                    <a:gs pos="0">
                      <a:srgbClr val="0097B2">
                        <a:alpha val="100000"/>
                      </a:srgbClr>
                    </a:gs>
                    <a:gs pos="100000">
                      <a:srgbClr val="7ED957">
                        <a:alpha val="100000"/>
                      </a:srgbClr>
                    </a:gs>
                  </a:gsLst>
                  <a:lin ang="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Lý do chọn đề tài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2692335"/>
            <a:ext cx="9369815" cy="6380279"/>
            <a:chOff x="0" y="0"/>
            <a:chExt cx="2467770" cy="16804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67770" cy="1680403"/>
            </a:xfrm>
            <a:custGeom>
              <a:avLst/>
              <a:gdLst/>
              <a:ahLst/>
              <a:cxnLst/>
              <a:rect l="l" t="t" r="r" b="b"/>
              <a:pathLst>
                <a:path w="2467770" h="1680403">
                  <a:moveTo>
                    <a:pt x="14046" y="0"/>
                  </a:moveTo>
                  <a:lnTo>
                    <a:pt x="2453724" y="0"/>
                  </a:lnTo>
                  <a:cubicBezTo>
                    <a:pt x="2457449" y="0"/>
                    <a:pt x="2461022" y="1480"/>
                    <a:pt x="2463656" y="4114"/>
                  </a:cubicBezTo>
                  <a:cubicBezTo>
                    <a:pt x="2466290" y="6748"/>
                    <a:pt x="2467770" y="10321"/>
                    <a:pt x="2467770" y="14046"/>
                  </a:cubicBezTo>
                  <a:lnTo>
                    <a:pt x="2467770" y="1666356"/>
                  </a:lnTo>
                  <a:cubicBezTo>
                    <a:pt x="2467770" y="1670082"/>
                    <a:pt x="2466290" y="1673654"/>
                    <a:pt x="2463656" y="1676289"/>
                  </a:cubicBezTo>
                  <a:cubicBezTo>
                    <a:pt x="2461022" y="1678923"/>
                    <a:pt x="2457449" y="1680403"/>
                    <a:pt x="2453724" y="1680403"/>
                  </a:cubicBezTo>
                  <a:lnTo>
                    <a:pt x="14046" y="1680403"/>
                  </a:lnTo>
                  <a:cubicBezTo>
                    <a:pt x="10321" y="1680403"/>
                    <a:pt x="6748" y="1678923"/>
                    <a:pt x="4114" y="1676289"/>
                  </a:cubicBezTo>
                  <a:cubicBezTo>
                    <a:pt x="1480" y="1673654"/>
                    <a:pt x="0" y="1670082"/>
                    <a:pt x="0" y="1666356"/>
                  </a:cubicBezTo>
                  <a:lnTo>
                    <a:pt x="0" y="14046"/>
                  </a:lnTo>
                  <a:cubicBezTo>
                    <a:pt x="0" y="10321"/>
                    <a:pt x="1480" y="6748"/>
                    <a:pt x="4114" y="4114"/>
                  </a:cubicBezTo>
                  <a:cubicBezTo>
                    <a:pt x="6748" y="1480"/>
                    <a:pt x="10321" y="0"/>
                    <a:pt x="1404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467770" cy="1728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69417" y="4402258"/>
            <a:ext cx="8659510" cy="112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78AF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Bối cảnh:</a:t>
            </a:r>
            <a:r>
              <a:rPr lang="en-US" sz="3200">
                <a:solidFill>
                  <a:srgbClr val="78AF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Snake Game là biểu tượng kinh điển nhưng phiên bản cũ đồ họa đơn điệu, thiếu AI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69417" y="6035477"/>
            <a:ext cx="8659510" cy="112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78AF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Mục đích: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Nâng cấp toàn diện về công nghệ, đồ họa và gameplay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69417" y="7665329"/>
            <a:ext cx="8659510" cy="112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78AF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Ý nghĩa: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Áp dụng kiến thức OOP, Cấu trúc dữ liệu &amp; Giải thuật vào sản phẩm thực tế.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69417" y="2769038"/>
            <a:ext cx="8659510" cy="112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78AF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Thị trường tiềm năng:</a:t>
            </a: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Game không chỉ là giải trí mà còn là ngành công nghiệp tỷ đô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gradFill>
                  <a:gsLst>
                    <a:gs pos="0">
                      <a:srgbClr val="0097B2">
                        <a:alpha val="100000"/>
                      </a:srgbClr>
                    </a:gs>
                    <a:gs pos="100000">
                      <a:srgbClr val="7ED957">
                        <a:alpha val="100000"/>
                      </a:srgbClr>
                    </a:gs>
                  </a:gsLst>
                  <a:lin ang="0"/>
                </a:gradFill>
                <a:latin typeface="Noto Sans"/>
                <a:ea typeface="Noto Sans"/>
                <a:cs typeface="Noto Sans"/>
                <a:sym typeface="Noto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2709"/>
            <a:ext cx="18288000" cy="1643584"/>
            <a:chOff x="0" y="0"/>
            <a:chExt cx="4816593" cy="4328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32878"/>
            </a:xfrm>
            <a:custGeom>
              <a:avLst/>
              <a:gdLst/>
              <a:ahLst/>
              <a:cxnLst/>
              <a:rect l="l" t="t" r="r" b="b"/>
              <a:pathLst>
                <a:path w="4816592" h="432878">
                  <a:moveTo>
                    <a:pt x="0" y="0"/>
                  </a:moveTo>
                  <a:lnTo>
                    <a:pt x="4816592" y="0"/>
                  </a:lnTo>
                  <a:lnTo>
                    <a:pt x="4816592" y="432878"/>
                  </a:lnTo>
                  <a:lnTo>
                    <a:pt x="0" y="432878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49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89607" y="32709"/>
            <a:ext cx="1678186" cy="1643584"/>
          </a:xfrm>
          <a:custGeom>
            <a:avLst/>
            <a:gdLst/>
            <a:ahLst/>
            <a:cxnLst/>
            <a:rect l="l" t="t" r="r" b="b"/>
            <a:pathLst>
              <a:path w="1678186" h="1643584">
                <a:moveTo>
                  <a:pt x="0" y="0"/>
                </a:moveTo>
                <a:lnTo>
                  <a:pt x="1678186" y="0"/>
                </a:lnTo>
                <a:lnTo>
                  <a:pt x="1678186" y="1643584"/>
                </a:lnTo>
                <a:lnTo>
                  <a:pt x="0" y="1643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884367" y="3860143"/>
            <a:ext cx="5191954" cy="4414192"/>
            <a:chOff x="0" y="0"/>
            <a:chExt cx="1367428" cy="116258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67428" cy="1162586"/>
            </a:xfrm>
            <a:custGeom>
              <a:avLst/>
              <a:gdLst/>
              <a:ahLst/>
              <a:cxnLst/>
              <a:rect l="l" t="t" r="r" b="b"/>
              <a:pathLst>
                <a:path w="1367428" h="1162586">
                  <a:moveTo>
                    <a:pt x="25349" y="0"/>
                  </a:moveTo>
                  <a:lnTo>
                    <a:pt x="1342079" y="0"/>
                  </a:lnTo>
                  <a:cubicBezTo>
                    <a:pt x="1348802" y="0"/>
                    <a:pt x="1355250" y="2671"/>
                    <a:pt x="1360004" y="7425"/>
                  </a:cubicBezTo>
                  <a:cubicBezTo>
                    <a:pt x="1364757" y="12179"/>
                    <a:pt x="1367428" y="18626"/>
                    <a:pt x="1367428" y="25349"/>
                  </a:cubicBezTo>
                  <a:lnTo>
                    <a:pt x="1367428" y="1137236"/>
                  </a:lnTo>
                  <a:cubicBezTo>
                    <a:pt x="1367428" y="1151236"/>
                    <a:pt x="1356079" y="1162586"/>
                    <a:pt x="1342079" y="1162586"/>
                  </a:cubicBezTo>
                  <a:lnTo>
                    <a:pt x="25349" y="1162586"/>
                  </a:lnTo>
                  <a:cubicBezTo>
                    <a:pt x="18626" y="1162586"/>
                    <a:pt x="12179" y="1159915"/>
                    <a:pt x="7425" y="1155161"/>
                  </a:cubicBezTo>
                  <a:cubicBezTo>
                    <a:pt x="2671" y="1150407"/>
                    <a:pt x="0" y="1143959"/>
                    <a:pt x="0" y="1137236"/>
                  </a:cubicBezTo>
                  <a:lnTo>
                    <a:pt x="0" y="25349"/>
                  </a:lnTo>
                  <a:cubicBezTo>
                    <a:pt x="0" y="18626"/>
                    <a:pt x="2671" y="12179"/>
                    <a:pt x="7425" y="7425"/>
                  </a:cubicBezTo>
                  <a:cubicBezTo>
                    <a:pt x="12179" y="2671"/>
                    <a:pt x="18626" y="0"/>
                    <a:pt x="253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367428" cy="121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2754404" y="3979206"/>
            <a:ext cx="1447360" cy="1447360"/>
          </a:xfrm>
          <a:custGeom>
            <a:avLst/>
            <a:gdLst/>
            <a:ahLst/>
            <a:cxnLst/>
            <a:rect l="l" t="t" r="r" b="b"/>
            <a:pathLst>
              <a:path w="1447360" h="1447360">
                <a:moveTo>
                  <a:pt x="0" y="0"/>
                </a:moveTo>
                <a:lnTo>
                  <a:pt x="1447360" y="0"/>
                </a:lnTo>
                <a:lnTo>
                  <a:pt x="1447360" y="1447360"/>
                </a:lnTo>
                <a:lnTo>
                  <a:pt x="0" y="1447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8397938" y="3979206"/>
            <a:ext cx="1492124" cy="1447360"/>
          </a:xfrm>
          <a:custGeom>
            <a:avLst/>
            <a:gdLst/>
            <a:ahLst/>
            <a:cxnLst/>
            <a:rect l="l" t="t" r="r" b="b"/>
            <a:pathLst>
              <a:path w="1492124" h="1447360">
                <a:moveTo>
                  <a:pt x="0" y="0"/>
                </a:moveTo>
                <a:lnTo>
                  <a:pt x="1492124" y="0"/>
                </a:lnTo>
                <a:lnTo>
                  <a:pt x="1492124" y="1447360"/>
                </a:lnTo>
                <a:lnTo>
                  <a:pt x="0" y="14473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1" name="Group 11"/>
          <p:cNvGrpSpPr/>
          <p:nvPr/>
        </p:nvGrpSpPr>
        <p:grpSpPr>
          <a:xfrm>
            <a:off x="12208962" y="3860143"/>
            <a:ext cx="5191954" cy="4414192"/>
            <a:chOff x="0" y="0"/>
            <a:chExt cx="1367428" cy="11625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67428" cy="1162586"/>
            </a:xfrm>
            <a:custGeom>
              <a:avLst/>
              <a:gdLst/>
              <a:ahLst/>
              <a:cxnLst/>
              <a:rect l="l" t="t" r="r" b="b"/>
              <a:pathLst>
                <a:path w="1367428" h="1162586">
                  <a:moveTo>
                    <a:pt x="25349" y="0"/>
                  </a:moveTo>
                  <a:lnTo>
                    <a:pt x="1342079" y="0"/>
                  </a:lnTo>
                  <a:cubicBezTo>
                    <a:pt x="1348802" y="0"/>
                    <a:pt x="1355250" y="2671"/>
                    <a:pt x="1360004" y="7425"/>
                  </a:cubicBezTo>
                  <a:cubicBezTo>
                    <a:pt x="1364757" y="12179"/>
                    <a:pt x="1367428" y="18626"/>
                    <a:pt x="1367428" y="25349"/>
                  </a:cubicBezTo>
                  <a:lnTo>
                    <a:pt x="1367428" y="1137236"/>
                  </a:lnTo>
                  <a:cubicBezTo>
                    <a:pt x="1367428" y="1151236"/>
                    <a:pt x="1356079" y="1162586"/>
                    <a:pt x="1342079" y="1162586"/>
                  </a:cubicBezTo>
                  <a:lnTo>
                    <a:pt x="25349" y="1162586"/>
                  </a:lnTo>
                  <a:cubicBezTo>
                    <a:pt x="18626" y="1162586"/>
                    <a:pt x="12179" y="1159915"/>
                    <a:pt x="7425" y="1155161"/>
                  </a:cubicBezTo>
                  <a:cubicBezTo>
                    <a:pt x="2671" y="1150407"/>
                    <a:pt x="0" y="1143959"/>
                    <a:pt x="0" y="1137236"/>
                  </a:cubicBezTo>
                  <a:lnTo>
                    <a:pt x="0" y="25349"/>
                  </a:lnTo>
                  <a:cubicBezTo>
                    <a:pt x="0" y="18626"/>
                    <a:pt x="2671" y="12179"/>
                    <a:pt x="7425" y="7425"/>
                  </a:cubicBezTo>
                  <a:cubicBezTo>
                    <a:pt x="12179" y="2671"/>
                    <a:pt x="18626" y="0"/>
                    <a:pt x="253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367428" cy="121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4010480" y="3979206"/>
            <a:ext cx="1588919" cy="1447360"/>
          </a:xfrm>
          <a:custGeom>
            <a:avLst/>
            <a:gdLst/>
            <a:ahLst/>
            <a:cxnLst/>
            <a:rect l="l" t="t" r="r" b="b"/>
            <a:pathLst>
              <a:path w="1588919" h="1447360">
                <a:moveTo>
                  <a:pt x="0" y="0"/>
                </a:moveTo>
                <a:lnTo>
                  <a:pt x="1588918" y="0"/>
                </a:lnTo>
                <a:lnTo>
                  <a:pt x="1588918" y="1447360"/>
                </a:lnTo>
                <a:lnTo>
                  <a:pt x="0" y="14473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TextBox 15"/>
          <p:cNvSpPr txBox="1"/>
          <p:nvPr/>
        </p:nvSpPr>
        <p:spPr>
          <a:xfrm>
            <a:off x="0" y="-175214"/>
            <a:ext cx="18288000" cy="175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22"/>
              </a:lnSpc>
              <a:spcBef>
                <a:spcPct val="0"/>
              </a:spcBef>
            </a:pPr>
            <a:r>
              <a:rPr lang="en-US" sz="10015" b="1">
                <a:gradFill>
                  <a:gsLst>
                    <a:gs pos="0">
                      <a:srgbClr val="0097B2">
                        <a:alpha val="100000"/>
                      </a:srgbClr>
                    </a:gs>
                    <a:gs pos="100000">
                      <a:srgbClr val="7ED957">
                        <a:alpha val="100000"/>
                      </a:srgbClr>
                    </a:gs>
                  </a:gsLst>
                  <a:lin ang="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Mục tiêu nghiên cứu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4367" y="6335885"/>
            <a:ext cx="5196474" cy="112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Làm chủ Unity, C#, mô hình Component-based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45763" y="6335885"/>
            <a:ext cx="5196474" cy="1690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Cài đặt thuật toán tìm đường (BFS, Flood Fill), tối ưu bộ nhớ.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473964" y="6335885"/>
            <a:ext cx="4785336" cy="1690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Game hoàn thiện trên PC, 60 FPS, hỗ trợ song ngữ Anh-Việt.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79847" y="5598016"/>
            <a:ext cx="5196474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Kiến thức: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52103" y="5598016"/>
            <a:ext cx="1783794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Kỹ thuật: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866604" y="5598016"/>
            <a:ext cx="1885950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Sản phẩm: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545763" y="3860143"/>
            <a:ext cx="5191954" cy="4414192"/>
            <a:chOff x="0" y="0"/>
            <a:chExt cx="1367428" cy="116258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67428" cy="1162586"/>
            </a:xfrm>
            <a:custGeom>
              <a:avLst/>
              <a:gdLst/>
              <a:ahLst/>
              <a:cxnLst/>
              <a:rect l="l" t="t" r="r" b="b"/>
              <a:pathLst>
                <a:path w="1367428" h="1162586">
                  <a:moveTo>
                    <a:pt x="25349" y="0"/>
                  </a:moveTo>
                  <a:lnTo>
                    <a:pt x="1342079" y="0"/>
                  </a:lnTo>
                  <a:cubicBezTo>
                    <a:pt x="1348802" y="0"/>
                    <a:pt x="1355250" y="2671"/>
                    <a:pt x="1360004" y="7425"/>
                  </a:cubicBezTo>
                  <a:cubicBezTo>
                    <a:pt x="1364757" y="12179"/>
                    <a:pt x="1367428" y="18626"/>
                    <a:pt x="1367428" y="25349"/>
                  </a:cubicBezTo>
                  <a:lnTo>
                    <a:pt x="1367428" y="1137236"/>
                  </a:lnTo>
                  <a:cubicBezTo>
                    <a:pt x="1367428" y="1151236"/>
                    <a:pt x="1356079" y="1162586"/>
                    <a:pt x="1342079" y="1162586"/>
                  </a:cubicBezTo>
                  <a:lnTo>
                    <a:pt x="25349" y="1162586"/>
                  </a:lnTo>
                  <a:cubicBezTo>
                    <a:pt x="18626" y="1162586"/>
                    <a:pt x="12179" y="1159915"/>
                    <a:pt x="7425" y="1155161"/>
                  </a:cubicBezTo>
                  <a:cubicBezTo>
                    <a:pt x="2671" y="1150407"/>
                    <a:pt x="0" y="1143959"/>
                    <a:pt x="0" y="1137236"/>
                  </a:cubicBezTo>
                  <a:lnTo>
                    <a:pt x="0" y="25349"/>
                  </a:lnTo>
                  <a:cubicBezTo>
                    <a:pt x="0" y="18626"/>
                    <a:pt x="2671" y="12179"/>
                    <a:pt x="7425" y="7425"/>
                  </a:cubicBezTo>
                  <a:cubicBezTo>
                    <a:pt x="12179" y="2671"/>
                    <a:pt x="18626" y="0"/>
                    <a:pt x="253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367428" cy="121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2709"/>
            <a:ext cx="18288000" cy="1643584"/>
            <a:chOff x="0" y="0"/>
            <a:chExt cx="4816593" cy="4328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32878"/>
            </a:xfrm>
            <a:custGeom>
              <a:avLst/>
              <a:gdLst/>
              <a:ahLst/>
              <a:cxnLst/>
              <a:rect l="l" t="t" r="r" b="b"/>
              <a:pathLst>
                <a:path w="4816592" h="432878">
                  <a:moveTo>
                    <a:pt x="0" y="0"/>
                  </a:moveTo>
                  <a:lnTo>
                    <a:pt x="4816592" y="0"/>
                  </a:lnTo>
                  <a:lnTo>
                    <a:pt x="4816592" y="432878"/>
                  </a:lnTo>
                  <a:lnTo>
                    <a:pt x="0" y="432878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49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89607" y="32709"/>
            <a:ext cx="1678186" cy="1643584"/>
          </a:xfrm>
          <a:custGeom>
            <a:avLst/>
            <a:gdLst/>
            <a:ahLst/>
            <a:cxnLst/>
            <a:rect l="l" t="t" r="r" b="b"/>
            <a:pathLst>
              <a:path w="1678186" h="1643584">
                <a:moveTo>
                  <a:pt x="0" y="0"/>
                </a:moveTo>
                <a:lnTo>
                  <a:pt x="1678186" y="0"/>
                </a:lnTo>
                <a:lnTo>
                  <a:pt x="1678186" y="1643584"/>
                </a:lnTo>
                <a:lnTo>
                  <a:pt x="0" y="1643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-175214"/>
            <a:ext cx="18288000" cy="175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22"/>
              </a:lnSpc>
              <a:spcBef>
                <a:spcPct val="0"/>
              </a:spcBef>
            </a:pPr>
            <a:r>
              <a:rPr lang="en-US" sz="10015" b="1">
                <a:gradFill>
                  <a:gsLst>
                    <a:gs pos="0">
                      <a:srgbClr val="0097B2">
                        <a:alpha val="100000"/>
                      </a:srgbClr>
                    </a:gs>
                    <a:gs pos="100000">
                      <a:srgbClr val="7ED957">
                        <a:alpha val="100000"/>
                      </a:srgbClr>
                    </a:gs>
                  </a:gsLst>
                  <a:lin ang="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Đối tượng và phạm vi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2593892"/>
            <a:ext cx="7710119" cy="5809026"/>
            <a:chOff x="0" y="0"/>
            <a:chExt cx="2030649" cy="15299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30649" cy="1529949"/>
            </a:xfrm>
            <a:custGeom>
              <a:avLst/>
              <a:gdLst/>
              <a:ahLst/>
              <a:cxnLst/>
              <a:rect l="l" t="t" r="r" b="b"/>
              <a:pathLst>
                <a:path w="2030649" h="1529949">
                  <a:moveTo>
                    <a:pt x="17070" y="0"/>
                  </a:moveTo>
                  <a:lnTo>
                    <a:pt x="2013579" y="0"/>
                  </a:lnTo>
                  <a:cubicBezTo>
                    <a:pt x="2023006" y="0"/>
                    <a:pt x="2030649" y="7643"/>
                    <a:pt x="2030649" y="17070"/>
                  </a:cubicBezTo>
                  <a:lnTo>
                    <a:pt x="2030649" y="1512879"/>
                  </a:lnTo>
                  <a:cubicBezTo>
                    <a:pt x="2030649" y="1522307"/>
                    <a:pt x="2023006" y="1529949"/>
                    <a:pt x="2013579" y="1529949"/>
                  </a:cubicBezTo>
                  <a:lnTo>
                    <a:pt x="17070" y="1529949"/>
                  </a:lnTo>
                  <a:cubicBezTo>
                    <a:pt x="7643" y="1529949"/>
                    <a:pt x="0" y="1522307"/>
                    <a:pt x="0" y="1512879"/>
                  </a:cubicBezTo>
                  <a:lnTo>
                    <a:pt x="0" y="17070"/>
                  </a:lnTo>
                  <a:cubicBezTo>
                    <a:pt x="0" y="7643"/>
                    <a:pt x="7643" y="0"/>
                    <a:pt x="1707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030649" cy="15775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`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482026" y="2593892"/>
            <a:ext cx="7777274" cy="5938990"/>
            <a:chOff x="0" y="0"/>
            <a:chExt cx="2048336" cy="156417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48336" cy="1564178"/>
            </a:xfrm>
            <a:custGeom>
              <a:avLst/>
              <a:gdLst/>
              <a:ahLst/>
              <a:cxnLst/>
              <a:rect l="l" t="t" r="r" b="b"/>
              <a:pathLst>
                <a:path w="2048336" h="1564178">
                  <a:moveTo>
                    <a:pt x="16923" y="0"/>
                  </a:moveTo>
                  <a:lnTo>
                    <a:pt x="2031413" y="0"/>
                  </a:lnTo>
                  <a:cubicBezTo>
                    <a:pt x="2035901" y="0"/>
                    <a:pt x="2040206" y="1783"/>
                    <a:pt x="2043379" y="4957"/>
                  </a:cubicBezTo>
                  <a:cubicBezTo>
                    <a:pt x="2046553" y="8130"/>
                    <a:pt x="2048336" y="12435"/>
                    <a:pt x="2048336" y="16923"/>
                  </a:cubicBezTo>
                  <a:lnTo>
                    <a:pt x="2048336" y="1547256"/>
                  </a:lnTo>
                  <a:cubicBezTo>
                    <a:pt x="2048336" y="1551744"/>
                    <a:pt x="2046553" y="1556048"/>
                    <a:pt x="2043379" y="1559222"/>
                  </a:cubicBezTo>
                  <a:cubicBezTo>
                    <a:pt x="2040206" y="1562396"/>
                    <a:pt x="2035901" y="1564178"/>
                    <a:pt x="2031413" y="1564178"/>
                  </a:cubicBezTo>
                  <a:lnTo>
                    <a:pt x="16923" y="1564178"/>
                  </a:lnTo>
                  <a:cubicBezTo>
                    <a:pt x="12435" y="1564178"/>
                    <a:pt x="8130" y="1562396"/>
                    <a:pt x="4957" y="1559222"/>
                  </a:cubicBezTo>
                  <a:cubicBezTo>
                    <a:pt x="1783" y="1556048"/>
                    <a:pt x="0" y="1551744"/>
                    <a:pt x="0" y="1547256"/>
                  </a:cubicBezTo>
                  <a:lnTo>
                    <a:pt x="0" y="16923"/>
                  </a:lnTo>
                  <a:cubicBezTo>
                    <a:pt x="0" y="12435"/>
                    <a:pt x="1783" y="8130"/>
                    <a:pt x="4957" y="4957"/>
                  </a:cubicBezTo>
                  <a:cubicBezTo>
                    <a:pt x="8130" y="1783"/>
                    <a:pt x="12435" y="0"/>
                    <a:pt x="1692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2048336" cy="1611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`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79677" y="2614047"/>
            <a:ext cx="7305689" cy="5194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750"/>
              </a:lnSpc>
            </a:pPr>
            <a:r>
              <a:rPr lang="en-US" sz="4500" b="1" spc="2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Đối  tượng nghiên cứu:</a:t>
            </a:r>
          </a:p>
          <a:p>
            <a:pPr marL="820421" lvl="1" indent="-410210" algn="just">
              <a:lnSpc>
                <a:spcPts val="5700"/>
              </a:lnSpc>
              <a:buFont typeface="Arial"/>
              <a:buChar char="•"/>
            </a:pPr>
            <a:r>
              <a:rPr lang="en-US" sz="3800" b="1" spc="22">
                <a:solidFill>
                  <a:srgbClr val="78AF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Thuật toán đồ thị:</a:t>
            </a:r>
            <a:r>
              <a:rPr lang="en-US" sz="3800" spc="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BFS, Flood Fill, Heuristic, Search</a:t>
            </a:r>
          </a:p>
          <a:p>
            <a:pPr marL="820421" lvl="1" indent="-410210" algn="just">
              <a:lnSpc>
                <a:spcPts val="5700"/>
              </a:lnSpc>
              <a:buFont typeface="Arial"/>
              <a:buChar char="•"/>
            </a:pPr>
            <a:r>
              <a:rPr lang="en-US" sz="3800" b="1" spc="22">
                <a:solidFill>
                  <a:srgbClr val="78AF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Cấu trúc dữ liệu:</a:t>
            </a:r>
            <a:r>
              <a:rPr lang="en-US" sz="3800" spc="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Queue, HashSet (O(1)), Dictionary</a:t>
            </a:r>
          </a:p>
          <a:p>
            <a:pPr marL="820421" lvl="1" indent="-410210" algn="just">
              <a:lnSpc>
                <a:spcPts val="5700"/>
              </a:lnSpc>
              <a:buFont typeface="Arial"/>
              <a:buChar char="•"/>
            </a:pPr>
            <a:r>
              <a:rPr lang="en-US" sz="3800" b="1" spc="22">
                <a:solidFill>
                  <a:srgbClr val="78AF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Kiến trúc:</a:t>
            </a:r>
            <a:r>
              <a:rPr lang="en-US" sz="3800" spc="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Component-Based, Event-Driven.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39221" y="2614047"/>
            <a:ext cx="7463259" cy="5918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750"/>
              </a:lnSpc>
            </a:pPr>
            <a:r>
              <a:rPr lang="en-US" sz="4500" b="1" spc="2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Phạm vị nghiên cứu:</a:t>
            </a:r>
          </a:p>
          <a:p>
            <a:pPr marL="820421" lvl="1" indent="-410210" algn="just">
              <a:lnSpc>
                <a:spcPts val="5700"/>
              </a:lnSpc>
              <a:buFont typeface="Arial"/>
              <a:buChar char="•"/>
            </a:pPr>
            <a:r>
              <a:rPr lang="en-US" sz="3800" b="1" spc="22">
                <a:solidFill>
                  <a:srgbClr val="78AF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Nền tảng:</a:t>
            </a:r>
            <a:r>
              <a:rPr lang="en-US" sz="3800" spc="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PC(Windows 10/11)</a:t>
            </a:r>
          </a:p>
          <a:p>
            <a:pPr marL="820421" lvl="1" indent="-410210" algn="just">
              <a:lnSpc>
                <a:spcPts val="5700"/>
              </a:lnSpc>
              <a:buFont typeface="Arial"/>
              <a:buChar char="•"/>
            </a:pPr>
            <a:r>
              <a:rPr lang="en-US" sz="3800" b="1" spc="22">
                <a:solidFill>
                  <a:srgbClr val="78AF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Chế độ: </a:t>
            </a:r>
            <a:r>
              <a:rPr lang="en-US" sz="3800" spc="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Chơi đơn, chơi với máy(PvE).</a:t>
            </a:r>
          </a:p>
          <a:p>
            <a:pPr marL="820421" lvl="1" indent="-410210" algn="just">
              <a:lnSpc>
                <a:spcPts val="5700"/>
              </a:lnSpc>
              <a:buFont typeface="Arial"/>
              <a:buChar char="•"/>
            </a:pPr>
            <a:r>
              <a:rPr lang="en-US" sz="3800" b="1" spc="22">
                <a:solidFill>
                  <a:srgbClr val="78AF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Công nghệ: </a:t>
            </a:r>
            <a:r>
              <a:rPr lang="en-US" sz="3800" spc="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Unity 2025, C# (.NET Standard 2.1)</a:t>
            </a:r>
          </a:p>
          <a:p>
            <a:pPr marL="820421" lvl="1" indent="-410210" algn="just">
              <a:lnSpc>
                <a:spcPts val="5700"/>
              </a:lnSpc>
              <a:buFont typeface="Arial"/>
              <a:buChar char="•"/>
            </a:pPr>
            <a:r>
              <a:rPr lang="en-US" sz="3800" b="1" spc="22">
                <a:solidFill>
                  <a:srgbClr val="78AF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Giới hạn:</a:t>
            </a:r>
            <a:r>
              <a:rPr lang="en-US" sz="3800" spc="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Không có Multiplayer Online, không 3D phức tạp.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2709"/>
            <a:ext cx="18288000" cy="1643584"/>
            <a:chOff x="0" y="0"/>
            <a:chExt cx="4816593" cy="4328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32878"/>
            </a:xfrm>
            <a:custGeom>
              <a:avLst/>
              <a:gdLst/>
              <a:ahLst/>
              <a:cxnLst/>
              <a:rect l="l" t="t" r="r" b="b"/>
              <a:pathLst>
                <a:path w="4816592" h="432878">
                  <a:moveTo>
                    <a:pt x="0" y="0"/>
                  </a:moveTo>
                  <a:lnTo>
                    <a:pt x="4816592" y="0"/>
                  </a:lnTo>
                  <a:lnTo>
                    <a:pt x="4816592" y="432878"/>
                  </a:lnTo>
                  <a:lnTo>
                    <a:pt x="0" y="432878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49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89607" y="32709"/>
            <a:ext cx="1678186" cy="1643584"/>
          </a:xfrm>
          <a:custGeom>
            <a:avLst/>
            <a:gdLst/>
            <a:ahLst/>
            <a:cxnLst/>
            <a:rect l="l" t="t" r="r" b="b"/>
            <a:pathLst>
              <a:path w="1678186" h="1643584">
                <a:moveTo>
                  <a:pt x="0" y="0"/>
                </a:moveTo>
                <a:lnTo>
                  <a:pt x="1678186" y="0"/>
                </a:lnTo>
                <a:lnTo>
                  <a:pt x="1678186" y="1643584"/>
                </a:lnTo>
                <a:lnTo>
                  <a:pt x="0" y="1643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-175214"/>
            <a:ext cx="18288000" cy="175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22"/>
              </a:lnSpc>
              <a:spcBef>
                <a:spcPct val="0"/>
              </a:spcBef>
            </a:pPr>
            <a:r>
              <a:rPr lang="en-US" sz="10015" b="1">
                <a:gradFill>
                  <a:gsLst>
                    <a:gs pos="0">
                      <a:srgbClr val="0097B2">
                        <a:alpha val="100000"/>
                      </a:srgbClr>
                    </a:gs>
                    <a:gs pos="100000">
                      <a:srgbClr val="7ED957">
                        <a:alpha val="100000"/>
                      </a:srgbClr>
                    </a:gs>
                  </a:gsLst>
                  <a:lin ang="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Phương pháp nghên cứu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</a:p>
        </p:txBody>
      </p:sp>
      <p:sp>
        <p:nvSpPr>
          <p:cNvPr id="8" name="AutoShape 8"/>
          <p:cNvSpPr/>
          <p:nvPr/>
        </p:nvSpPr>
        <p:spPr>
          <a:xfrm>
            <a:off x="1028700" y="51435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867793" y="4668004"/>
            <a:ext cx="950992" cy="95099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EFD"/>
            </a:solidFill>
            <a:ln w="76200" cap="sq">
              <a:solidFill>
                <a:srgbClr val="78AF57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37483" y="4664284"/>
            <a:ext cx="954712" cy="95471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EFD"/>
            </a:solidFill>
            <a:ln w="76200" cap="sq">
              <a:solidFill>
                <a:srgbClr val="78AF57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206695" y="4668004"/>
            <a:ext cx="950992" cy="95099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EFD"/>
            </a:solidFill>
            <a:ln w="76200" cap="sq">
              <a:solidFill>
                <a:srgbClr val="78AF57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28692" y="4668004"/>
            <a:ext cx="950992" cy="95099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EFD"/>
            </a:solidFill>
            <a:ln w="76200" cap="sq">
              <a:solidFill>
                <a:srgbClr val="78AF57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651334" y="4668004"/>
            <a:ext cx="950992" cy="950992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EFD"/>
            </a:solidFill>
            <a:ln w="76200" cap="sq">
              <a:solidFill>
                <a:srgbClr val="78AF57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316827" y="4668004"/>
            <a:ext cx="950992" cy="950992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EFD"/>
            </a:solidFill>
            <a:ln w="76200" cap="sq">
              <a:solidFill>
                <a:srgbClr val="78AF57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871991" y="4943203"/>
            <a:ext cx="95099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37483" y="4943203"/>
            <a:ext cx="95099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206049" y="4943203"/>
            <a:ext cx="95099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28692" y="4943203"/>
            <a:ext cx="95099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651334" y="4943203"/>
            <a:ext cx="95099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316827" y="4943203"/>
            <a:ext cx="95099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928625" y="5728940"/>
            <a:ext cx="83772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Tài liệu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44304" y="5728940"/>
            <a:ext cx="94107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Thiết kế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802081" y="5728940"/>
            <a:ext cx="176022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Phát triển core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660464" y="5728940"/>
            <a:ext cx="148744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Phát triển AI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692907" y="5728940"/>
            <a:ext cx="867847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Testing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5319704" y="5728940"/>
            <a:ext cx="945237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Báo cáo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2709"/>
            <a:ext cx="18288000" cy="1643584"/>
            <a:chOff x="0" y="0"/>
            <a:chExt cx="4816593" cy="4328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32878"/>
            </a:xfrm>
            <a:custGeom>
              <a:avLst/>
              <a:gdLst/>
              <a:ahLst/>
              <a:cxnLst/>
              <a:rect l="l" t="t" r="r" b="b"/>
              <a:pathLst>
                <a:path w="4816592" h="432878">
                  <a:moveTo>
                    <a:pt x="0" y="0"/>
                  </a:moveTo>
                  <a:lnTo>
                    <a:pt x="4816592" y="0"/>
                  </a:lnTo>
                  <a:lnTo>
                    <a:pt x="4816592" y="432878"/>
                  </a:lnTo>
                  <a:lnTo>
                    <a:pt x="0" y="432878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49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89607" y="32709"/>
            <a:ext cx="1678186" cy="1643584"/>
          </a:xfrm>
          <a:custGeom>
            <a:avLst/>
            <a:gdLst/>
            <a:ahLst/>
            <a:cxnLst/>
            <a:rect l="l" t="t" r="r" b="b"/>
            <a:pathLst>
              <a:path w="1678186" h="1643584">
                <a:moveTo>
                  <a:pt x="0" y="0"/>
                </a:moveTo>
                <a:lnTo>
                  <a:pt x="1678186" y="0"/>
                </a:lnTo>
                <a:lnTo>
                  <a:pt x="1678186" y="1643584"/>
                </a:lnTo>
                <a:lnTo>
                  <a:pt x="0" y="1643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28700" y="3238029"/>
            <a:ext cx="5191954" cy="4414192"/>
            <a:chOff x="0" y="0"/>
            <a:chExt cx="1367428" cy="116258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67428" cy="1162586"/>
            </a:xfrm>
            <a:custGeom>
              <a:avLst/>
              <a:gdLst/>
              <a:ahLst/>
              <a:cxnLst/>
              <a:rect l="l" t="t" r="r" b="b"/>
              <a:pathLst>
                <a:path w="1367428" h="1162586">
                  <a:moveTo>
                    <a:pt x="25349" y="0"/>
                  </a:moveTo>
                  <a:lnTo>
                    <a:pt x="1342079" y="0"/>
                  </a:lnTo>
                  <a:cubicBezTo>
                    <a:pt x="1348802" y="0"/>
                    <a:pt x="1355250" y="2671"/>
                    <a:pt x="1360004" y="7425"/>
                  </a:cubicBezTo>
                  <a:cubicBezTo>
                    <a:pt x="1364757" y="12179"/>
                    <a:pt x="1367428" y="18626"/>
                    <a:pt x="1367428" y="25349"/>
                  </a:cubicBezTo>
                  <a:lnTo>
                    <a:pt x="1367428" y="1137236"/>
                  </a:lnTo>
                  <a:cubicBezTo>
                    <a:pt x="1367428" y="1151236"/>
                    <a:pt x="1356079" y="1162586"/>
                    <a:pt x="1342079" y="1162586"/>
                  </a:cubicBezTo>
                  <a:lnTo>
                    <a:pt x="25349" y="1162586"/>
                  </a:lnTo>
                  <a:cubicBezTo>
                    <a:pt x="18626" y="1162586"/>
                    <a:pt x="12179" y="1159915"/>
                    <a:pt x="7425" y="1155161"/>
                  </a:cubicBezTo>
                  <a:cubicBezTo>
                    <a:pt x="2671" y="1150407"/>
                    <a:pt x="0" y="1143959"/>
                    <a:pt x="0" y="1137236"/>
                  </a:cubicBezTo>
                  <a:lnTo>
                    <a:pt x="0" y="25349"/>
                  </a:lnTo>
                  <a:cubicBezTo>
                    <a:pt x="0" y="18626"/>
                    <a:pt x="2671" y="12179"/>
                    <a:pt x="7425" y="7425"/>
                  </a:cubicBezTo>
                  <a:cubicBezTo>
                    <a:pt x="12179" y="2671"/>
                    <a:pt x="18626" y="0"/>
                    <a:pt x="253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78AF57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367428" cy="121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2214800" y="3534141"/>
            <a:ext cx="2819753" cy="1015111"/>
          </a:xfrm>
          <a:custGeom>
            <a:avLst/>
            <a:gdLst/>
            <a:ahLst/>
            <a:cxnLst/>
            <a:rect l="l" t="t" r="r" b="b"/>
            <a:pathLst>
              <a:path w="2819753" h="1015111">
                <a:moveTo>
                  <a:pt x="0" y="0"/>
                </a:moveTo>
                <a:lnTo>
                  <a:pt x="2819753" y="0"/>
                </a:lnTo>
                <a:lnTo>
                  <a:pt x="2819753" y="1015112"/>
                </a:lnTo>
                <a:lnTo>
                  <a:pt x="0" y="10151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6557447" y="3238029"/>
            <a:ext cx="5191954" cy="4414192"/>
            <a:chOff x="0" y="0"/>
            <a:chExt cx="1367428" cy="116258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67428" cy="1162586"/>
            </a:xfrm>
            <a:custGeom>
              <a:avLst/>
              <a:gdLst/>
              <a:ahLst/>
              <a:cxnLst/>
              <a:rect l="l" t="t" r="r" b="b"/>
              <a:pathLst>
                <a:path w="1367428" h="1162586">
                  <a:moveTo>
                    <a:pt x="25349" y="0"/>
                  </a:moveTo>
                  <a:lnTo>
                    <a:pt x="1342079" y="0"/>
                  </a:lnTo>
                  <a:cubicBezTo>
                    <a:pt x="1348802" y="0"/>
                    <a:pt x="1355250" y="2671"/>
                    <a:pt x="1360004" y="7425"/>
                  </a:cubicBezTo>
                  <a:cubicBezTo>
                    <a:pt x="1364757" y="12179"/>
                    <a:pt x="1367428" y="18626"/>
                    <a:pt x="1367428" y="25349"/>
                  </a:cubicBezTo>
                  <a:lnTo>
                    <a:pt x="1367428" y="1137236"/>
                  </a:lnTo>
                  <a:cubicBezTo>
                    <a:pt x="1367428" y="1151236"/>
                    <a:pt x="1356079" y="1162586"/>
                    <a:pt x="1342079" y="1162586"/>
                  </a:cubicBezTo>
                  <a:lnTo>
                    <a:pt x="25349" y="1162586"/>
                  </a:lnTo>
                  <a:cubicBezTo>
                    <a:pt x="18626" y="1162586"/>
                    <a:pt x="12179" y="1159915"/>
                    <a:pt x="7425" y="1155161"/>
                  </a:cubicBezTo>
                  <a:cubicBezTo>
                    <a:pt x="2671" y="1150407"/>
                    <a:pt x="0" y="1143959"/>
                    <a:pt x="0" y="1137236"/>
                  </a:cubicBezTo>
                  <a:lnTo>
                    <a:pt x="0" y="25349"/>
                  </a:lnTo>
                  <a:cubicBezTo>
                    <a:pt x="0" y="18626"/>
                    <a:pt x="2671" y="12179"/>
                    <a:pt x="7425" y="7425"/>
                  </a:cubicBezTo>
                  <a:cubicBezTo>
                    <a:pt x="12179" y="2671"/>
                    <a:pt x="18626" y="0"/>
                    <a:pt x="253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78AF57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367428" cy="121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8493550" y="3391247"/>
            <a:ext cx="1300900" cy="1300900"/>
          </a:xfrm>
          <a:custGeom>
            <a:avLst/>
            <a:gdLst/>
            <a:ahLst/>
            <a:cxnLst/>
            <a:rect l="l" t="t" r="r" b="b"/>
            <a:pathLst>
              <a:path w="1300900" h="1300900">
                <a:moveTo>
                  <a:pt x="0" y="0"/>
                </a:moveTo>
                <a:lnTo>
                  <a:pt x="1300900" y="0"/>
                </a:lnTo>
                <a:lnTo>
                  <a:pt x="1300900" y="1300900"/>
                </a:lnTo>
                <a:lnTo>
                  <a:pt x="0" y="13009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2067346" y="3238029"/>
            <a:ext cx="5191954" cy="4414192"/>
            <a:chOff x="0" y="0"/>
            <a:chExt cx="1367428" cy="116258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67428" cy="1162586"/>
            </a:xfrm>
            <a:custGeom>
              <a:avLst/>
              <a:gdLst/>
              <a:ahLst/>
              <a:cxnLst/>
              <a:rect l="l" t="t" r="r" b="b"/>
              <a:pathLst>
                <a:path w="1367428" h="1162586">
                  <a:moveTo>
                    <a:pt x="25349" y="0"/>
                  </a:moveTo>
                  <a:lnTo>
                    <a:pt x="1342079" y="0"/>
                  </a:lnTo>
                  <a:cubicBezTo>
                    <a:pt x="1348802" y="0"/>
                    <a:pt x="1355250" y="2671"/>
                    <a:pt x="1360004" y="7425"/>
                  </a:cubicBezTo>
                  <a:cubicBezTo>
                    <a:pt x="1364757" y="12179"/>
                    <a:pt x="1367428" y="18626"/>
                    <a:pt x="1367428" y="25349"/>
                  </a:cubicBezTo>
                  <a:lnTo>
                    <a:pt x="1367428" y="1137236"/>
                  </a:lnTo>
                  <a:cubicBezTo>
                    <a:pt x="1367428" y="1151236"/>
                    <a:pt x="1356079" y="1162586"/>
                    <a:pt x="1342079" y="1162586"/>
                  </a:cubicBezTo>
                  <a:lnTo>
                    <a:pt x="25349" y="1162586"/>
                  </a:lnTo>
                  <a:cubicBezTo>
                    <a:pt x="18626" y="1162586"/>
                    <a:pt x="12179" y="1159915"/>
                    <a:pt x="7425" y="1155161"/>
                  </a:cubicBezTo>
                  <a:cubicBezTo>
                    <a:pt x="2671" y="1150407"/>
                    <a:pt x="0" y="1143959"/>
                    <a:pt x="0" y="1137236"/>
                  </a:cubicBezTo>
                  <a:lnTo>
                    <a:pt x="0" y="25349"/>
                  </a:lnTo>
                  <a:cubicBezTo>
                    <a:pt x="0" y="18626"/>
                    <a:pt x="2671" y="12179"/>
                    <a:pt x="7425" y="7425"/>
                  </a:cubicBezTo>
                  <a:cubicBezTo>
                    <a:pt x="12179" y="2671"/>
                    <a:pt x="18626" y="0"/>
                    <a:pt x="253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78AF57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367428" cy="121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979765" y="3534141"/>
            <a:ext cx="1367116" cy="1297620"/>
          </a:xfrm>
          <a:custGeom>
            <a:avLst/>
            <a:gdLst/>
            <a:ahLst/>
            <a:cxnLst/>
            <a:rect l="l" t="t" r="r" b="b"/>
            <a:pathLst>
              <a:path w="1367116" h="1297620">
                <a:moveTo>
                  <a:pt x="0" y="0"/>
                </a:moveTo>
                <a:lnTo>
                  <a:pt x="1367116" y="0"/>
                </a:lnTo>
                <a:lnTo>
                  <a:pt x="1367116" y="1297621"/>
                </a:lnTo>
                <a:lnTo>
                  <a:pt x="0" y="12976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0" y="-175214"/>
            <a:ext cx="18288000" cy="175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22"/>
              </a:lnSpc>
              <a:spcBef>
                <a:spcPct val="0"/>
              </a:spcBef>
            </a:pPr>
            <a:r>
              <a:rPr lang="en-US" sz="10015" b="1">
                <a:gradFill>
                  <a:gsLst>
                    <a:gs pos="0">
                      <a:srgbClr val="0097B2">
                        <a:alpha val="100000"/>
                      </a:srgbClr>
                    </a:gs>
                    <a:gs pos="100000">
                      <a:srgbClr val="7ED957">
                        <a:alpha val="100000"/>
                      </a:srgbClr>
                    </a:gs>
                  </a:gsLst>
                  <a:lin ang="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Công cụ phát triển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7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21679" y="4768367"/>
            <a:ext cx="3205996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Unity 2025 LTS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5593906"/>
            <a:ext cx="5191954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Engine chính, 2D renderer, Animator, Tilemap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91154" y="4768367"/>
            <a:ext cx="2994660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Visual Studio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57447" y="5593906"/>
            <a:ext cx="5191954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IDE, IntelliSence, Debugging, Tools, Refactoring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130334" y="4848225"/>
            <a:ext cx="3065979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Photoshop CC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067346" y="5593906"/>
            <a:ext cx="5191954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Thiết kế UI/UX, Sprite, hiệu ứng Glow/Neon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2709"/>
            <a:ext cx="18288000" cy="1643584"/>
            <a:chOff x="0" y="0"/>
            <a:chExt cx="4816593" cy="4328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32878"/>
            </a:xfrm>
            <a:custGeom>
              <a:avLst/>
              <a:gdLst/>
              <a:ahLst/>
              <a:cxnLst/>
              <a:rect l="l" t="t" r="r" b="b"/>
              <a:pathLst>
                <a:path w="4816592" h="432878">
                  <a:moveTo>
                    <a:pt x="0" y="0"/>
                  </a:moveTo>
                  <a:lnTo>
                    <a:pt x="4816592" y="0"/>
                  </a:lnTo>
                  <a:lnTo>
                    <a:pt x="4816592" y="432878"/>
                  </a:lnTo>
                  <a:lnTo>
                    <a:pt x="0" y="432878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49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89607" y="32709"/>
            <a:ext cx="1678186" cy="1643584"/>
          </a:xfrm>
          <a:custGeom>
            <a:avLst/>
            <a:gdLst/>
            <a:ahLst/>
            <a:cxnLst/>
            <a:rect l="l" t="t" r="r" b="b"/>
            <a:pathLst>
              <a:path w="1678186" h="1643584">
                <a:moveTo>
                  <a:pt x="0" y="0"/>
                </a:moveTo>
                <a:lnTo>
                  <a:pt x="1678186" y="0"/>
                </a:lnTo>
                <a:lnTo>
                  <a:pt x="1678186" y="1643584"/>
                </a:lnTo>
                <a:lnTo>
                  <a:pt x="0" y="1643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532939" y="3363612"/>
            <a:ext cx="7555307" cy="4564965"/>
          </a:xfrm>
          <a:custGeom>
            <a:avLst/>
            <a:gdLst/>
            <a:ahLst/>
            <a:cxnLst/>
            <a:rect l="l" t="t" r="r" b="b"/>
            <a:pathLst>
              <a:path w="7555307" h="4564965">
                <a:moveTo>
                  <a:pt x="0" y="0"/>
                </a:moveTo>
                <a:lnTo>
                  <a:pt x="7555307" y="0"/>
                </a:lnTo>
                <a:lnTo>
                  <a:pt x="7555307" y="4564966"/>
                </a:lnTo>
                <a:lnTo>
                  <a:pt x="0" y="4564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0" y="-175214"/>
            <a:ext cx="18288000" cy="175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22"/>
              </a:lnSpc>
              <a:spcBef>
                <a:spcPct val="0"/>
              </a:spcBef>
            </a:pPr>
            <a:r>
              <a:rPr lang="en-US" sz="10015" b="1">
                <a:gradFill>
                  <a:gsLst>
                    <a:gs pos="0">
                      <a:srgbClr val="0097B2">
                        <a:alpha val="100000"/>
                      </a:srgbClr>
                    </a:gs>
                    <a:gs pos="100000">
                      <a:srgbClr val="7ED957">
                        <a:alpha val="100000"/>
                      </a:srgbClr>
                    </a:gs>
                  </a:gsLst>
                  <a:lin ang="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Tổng quan về trò chơi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8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216628" y="3156126"/>
            <a:ext cx="8187928" cy="5001496"/>
            <a:chOff x="0" y="0"/>
            <a:chExt cx="2156491" cy="131726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56491" cy="1317266"/>
            </a:xfrm>
            <a:custGeom>
              <a:avLst/>
              <a:gdLst/>
              <a:ahLst/>
              <a:cxnLst/>
              <a:rect l="l" t="t" r="r" b="b"/>
              <a:pathLst>
                <a:path w="2156491" h="1317266">
                  <a:moveTo>
                    <a:pt x="16074" y="0"/>
                  </a:moveTo>
                  <a:lnTo>
                    <a:pt x="2140417" y="0"/>
                  </a:lnTo>
                  <a:cubicBezTo>
                    <a:pt x="2144681" y="0"/>
                    <a:pt x="2148769" y="1694"/>
                    <a:pt x="2151783" y="4708"/>
                  </a:cubicBezTo>
                  <a:cubicBezTo>
                    <a:pt x="2154798" y="7722"/>
                    <a:pt x="2156491" y="11811"/>
                    <a:pt x="2156491" y="16074"/>
                  </a:cubicBezTo>
                  <a:lnTo>
                    <a:pt x="2156491" y="1301192"/>
                  </a:lnTo>
                  <a:cubicBezTo>
                    <a:pt x="2156491" y="1310070"/>
                    <a:pt x="2149295" y="1317266"/>
                    <a:pt x="2140417" y="1317266"/>
                  </a:cubicBezTo>
                  <a:lnTo>
                    <a:pt x="16074" y="1317266"/>
                  </a:lnTo>
                  <a:cubicBezTo>
                    <a:pt x="11811" y="1317266"/>
                    <a:pt x="7722" y="1315573"/>
                    <a:pt x="4708" y="1312558"/>
                  </a:cubicBezTo>
                  <a:cubicBezTo>
                    <a:pt x="1694" y="1309544"/>
                    <a:pt x="0" y="1305455"/>
                    <a:pt x="0" y="1301192"/>
                  </a:cubicBezTo>
                  <a:lnTo>
                    <a:pt x="0" y="16074"/>
                  </a:lnTo>
                  <a:cubicBezTo>
                    <a:pt x="0" y="7197"/>
                    <a:pt x="7197" y="0"/>
                    <a:pt x="1607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78AF57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156491" cy="13648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1009" y="2418117"/>
            <a:ext cx="8295341" cy="6477515"/>
            <a:chOff x="0" y="0"/>
            <a:chExt cx="2184781" cy="170601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84781" cy="1706012"/>
            </a:xfrm>
            <a:custGeom>
              <a:avLst/>
              <a:gdLst/>
              <a:ahLst/>
              <a:cxnLst/>
              <a:rect l="l" t="t" r="r" b="b"/>
              <a:pathLst>
                <a:path w="2184781" h="1706012">
                  <a:moveTo>
                    <a:pt x="15866" y="0"/>
                  </a:moveTo>
                  <a:lnTo>
                    <a:pt x="2168915" y="0"/>
                  </a:lnTo>
                  <a:cubicBezTo>
                    <a:pt x="2173123" y="0"/>
                    <a:pt x="2177159" y="1672"/>
                    <a:pt x="2180134" y="4647"/>
                  </a:cubicBezTo>
                  <a:cubicBezTo>
                    <a:pt x="2183110" y="7622"/>
                    <a:pt x="2184781" y="11658"/>
                    <a:pt x="2184781" y="15866"/>
                  </a:cubicBezTo>
                  <a:lnTo>
                    <a:pt x="2184781" y="1690146"/>
                  </a:lnTo>
                  <a:cubicBezTo>
                    <a:pt x="2184781" y="1694354"/>
                    <a:pt x="2183110" y="1698390"/>
                    <a:pt x="2180134" y="1701365"/>
                  </a:cubicBezTo>
                  <a:cubicBezTo>
                    <a:pt x="2177159" y="1704341"/>
                    <a:pt x="2173123" y="1706012"/>
                    <a:pt x="2168915" y="1706012"/>
                  </a:cubicBezTo>
                  <a:lnTo>
                    <a:pt x="15866" y="1706012"/>
                  </a:lnTo>
                  <a:cubicBezTo>
                    <a:pt x="11658" y="1706012"/>
                    <a:pt x="7622" y="1704341"/>
                    <a:pt x="4647" y="1701365"/>
                  </a:cubicBezTo>
                  <a:cubicBezTo>
                    <a:pt x="1672" y="1698390"/>
                    <a:pt x="0" y="1694354"/>
                    <a:pt x="0" y="1690146"/>
                  </a:cubicBezTo>
                  <a:lnTo>
                    <a:pt x="0" y="15866"/>
                  </a:lnTo>
                  <a:cubicBezTo>
                    <a:pt x="0" y="11658"/>
                    <a:pt x="1672" y="7622"/>
                    <a:pt x="4647" y="4647"/>
                  </a:cubicBezTo>
                  <a:cubicBezTo>
                    <a:pt x="7622" y="1672"/>
                    <a:pt x="11658" y="0"/>
                    <a:pt x="1586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78AF57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184781" cy="1753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96676" y="2417120"/>
            <a:ext cx="7987385" cy="6362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Lịch sử hình thành: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Từ blockade (1976) đến thời kỳ bùng nổ trên Nokia(1997) và các biển thể hiện đại trên Slither.io</a:t>
            </a:r>
          </a:p>
          <a:p>
            <a:pPr algn="just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Cơ chế hoạt động:</a:t>
            </a:r>
          </a:p>
          <a:p>
            <a:pPr marL="755652" lvl="1" indent="-377826" algn="just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Grid - Based: Hoạt động trên lưới rời rạc(Discrete)</a:t>
            </a:r>
          </a:p>
          <a:p>
            <a:pPr marL="755652" lvl="1" indent="-377826" algn="just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Structure: Rắn là Link List/Queue.</a:t>
            </a:r>
          </a:p>
          <a:p>
            <a:pPr marL="755652" lvl="1" indent="-377826" algn="just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Game Loop: Input → Update → Render.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2709"/>
            <a:ext cx="18288000" cy="1643584"/>
            <a:chOff x="0" y="0"/>
            <a:chExt cx="4816593" cy="4328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32878"/>
            </a:xfrm>
            <a:custGeom>
              <a:avLst/>
              <a:gdLst/>
              <a:ahLst/>
              <a:cxnLst/>
              <a:rect l="l" t="t" r="r" b="b"/>
              <a:pathLst>
                <a:path w="4816592" h="432878">
                  <a:moveTo>
                    <a:pt x="0" y="0"/>
                  </a:moveTo>
                  <a:lnTo>
                    <a:pt x="4816592" y="0"/>
                  </a:lnTo>
                  <a:lnTo>
                    <a:pt x="4816592" y="432878"/>
                  </a:lnTo>
                  <a:lnTo>
                    <a:pt x="0" y="432878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49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89607" y="32709"/>
            <a:ext cx="1678186" cy="1643584"/>
          </a:xfrm>
          <a:custGeom>
            <a:avLst/>
            <a:gdLst/>
            <a:ahLst/>
            <a:cxnLst/>
            <a:rect l="l" t="t" r="r" b="b"/>
            <a:pathLst>
              <a:path w="1678186" h="1643584">
                <a:moveTo>
                  <a:pt x="0" y="0"/>
                </a:moveTo>
                <a:lnTo>
                  <a:pt x="1678186" y="0"/>
                </a:lnTo>
                <a:lnTo>
                  <a:pt x="1678186" y="1643584"/>
                </a:lnTo>
                <a:lnTo>
                  <a:pt x="0" y="1643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-175214"/>
            <a:ext cx="18288000" cy="175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22"/>
              </a:lnSpc>
              <a:spcBef>
                <a:spcPct val="0"/>
              </a:spcBef>
            </a:pPr>
            <a:r>
              <a:rPr lang="en-US" sz="10015" b="1">
                <a:gradFill>
                  <a:gsLst>
                    <a:gs pos="0">
                      <a:srgbClr val="0097B2">
                        <a:alpha val="100000"/>
                      </a:srgbClr>
                    </a:gs>
                    <a:gs pos="100000">
                      <a:srgbClr val="7ED957">
                        <a:alpha val="100000"/>
                      </a:srgbClr>
                    </a:gs>
                  </a:gsLst>
                  <a:lin ang="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Kiến trúc Unity &amp; C#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9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2483036"/>
            <a:ext cx="7710119" cy="5809026"/>
            <a:chOff x="0" y="0"/>
            <a:chExt cx="2030649" cy="15299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30649" cy="1529949"/>
            </a:xfrm>
            <a:custGeom>
              <a:avLst/>
              <a:gdLst/>
              <a:ahLst/>
              <a:cxnLst/>
              <a:rect l="l" t="t" r="r" b="b"/>
              <a:pathLst>
                <a:path w="2030649" h="1529949">
                  <a:moveTo>
                    <a:pt x="17070" y="0"/>
                  </a:moveTo>
                  <a:lnTo>
                    <a:pt x="2013579" y="0"/>
                  </a:lnTo>
                  <a:cubicBezTo>
                    <a:pt x="2023006" y="0"/>
                    <a:pt x="2030649" y="7643"/>
                    <a:pt x="2030649" y="17070"/>
                  </a:cubicBezTo>
                  <a:lnTo>
                    <a:pt x="2030649" y="1512879"/>
                  </a:lnTo>
                  <a:cubicBezTo>
                    <a:pt x="2030649" y="1522307"/>
                    <a:pt x="2023006" y="1529949"/>
                    <a:pt x="2013579" y="1529949"/>
                  </a:cubicBezTo>
                  <a:lnTo>
                    <a:pt x="17070" y="1529949"/>
                  </a:lnTo>
                  <a:cubicBezTo>
                    <a:pt x="7643" y="1529949"/>
                    <a:pt x="0" y="1522307"/>
                    <a:pt x="0" y="1512879"/>
                  </a:cubicBezTo>
                  <a:lnTo>
                    <a:pt x="0" y="17070"/>
                  </a:lnTo>
                  <a:cubicBezTo>
                    <a:pt x="0" y="7643"/>
                    <a:pt x="7643" y="0"/>
                    <a:pt x="1707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030649" cy="15775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`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31556" y="2387786"/>
            <a:ext cx="7407263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Component-Based Architecture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58977" y="3788937"/>
            <a:ext cx="7152421" cy="310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</a:pPr>
            <a:endParaRPr/>
          </a:p>
          <a:p>
            <a:pPr marL="755652" lvl="1" indent="-377826" algn="just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GameObject: Vật chứa (container).</a:t>
            </a:r>
          </a:p>
          <a:p>
            <a:pPr marL="755652" lvl="1" indent="-377826" algn="just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Component: Hành vi (Behavior) gắn vào vật chứa.</a:t>
            </a:r>
          </a:p>
          <a:p>
            <a:pPr marL="755652" lvl="1" indent="-377826" algn="just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Linh hoạt, dễ lắp ghép tính năng.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31556" y="3346741"/>
            <a:ext cx="7152421" cy="675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Khác với OOP thuần tuý: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482026" y="2530292"/>
            <a:ext cx="7777274" cy="5874008"/>
            <a:chOff x="0" y="0"/>
            <a:chExt cx="2048336" cy="154706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48336" cy="1547064"/>
            </a:xfrm>
            <a:custGeom>
              <a:avLst/>
              <a:gdLst/>
              <a:ahLst/>
              <a:cxnLst/>
              <a:rect l="l" t="t" r="r" b="b"/>
              <a:pathLst>
                <a:path w="2048336" h="1547064">
                  <a:moveTo>
                    <a:pt x="16923" y="0"/>
                  </a:moveTo>
                  <a:lnTo>
                    <a:pt x="2031413" y="0"/>
                  </a:lnTo>
                  <a:cubicBezTo>
                    <a:pt x="2035901" y="0"/>
                    <a:pt x="2040206" y="1783"/>
                    <a:pt x="2043379" y="4957"/>
                  </a:cubicBezTo>
                  <a:cubicBezTo>
                    <a:pt x="2046553" y="8130"/>
                    <a:pt x="2048336" y="12435"/>
                    <a:pt x="2048336" y="16923"/>
                  </a:cubicBezTo>
                  <a:lnTo>
                    <a:pt x="2048336" y="1530141"/>
                  </a:lnTo>
                  <a:cubicBezTo>
                    <a:pt x="2048336" y="1534629"/>
                    <a:pt x="2046553" y="1538934"/>
                    <a:pt x="2043379" y="1542107"/>
                  </a:cubicBezTo>
                  <a:cubicBezTo>
                    <a:pt x="2040206" y="1545281"/>
                    <a:pt x="2035901" y="1547064"/>
                    <a:pt x="2031413" y="1547064"/>
                  </a:cubicBezTo>
                  <a:lnTo>
                    <a:pt x="16923" y="1547064"/>
                  </a:lnTo>
                  <a:cubicBezTo>
                    <a:pt x="7577" y="1547064"/>
                    <a:pt x="0" y="1539487"/>
                    <a:pt x="0" y="1530141"/>
                  </a:cubicBezTo>
                  <a:lnTo>
                    <a:pt x="0" y="16923"/>
                  </a:lnTo>
                  <a:cubicBezTo>
                    <a:pt x="0" y="12435"/>
                    <a:pt x="1783" y="8130"/>
                    <a:pt x="4957" y="4957"/>
                  </a:cubicBezTo>
                  <a:cubicBezTo>
                    <a:pt x="8130" y="1783"/>
                    <a:pt x="12435" y="0"/>
                    <a:pt x="1692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048336" cy="15946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`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747025" y="2387786"/>
            <a:ext cx="7512275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Vòng đời (lifecycle)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747025" y="3346741"/>
            <a:ext cx="7152421" cy="675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Kiểm soát luồng game: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94453" y="3756446"/>
            <a:ext cx="7152421" cy="310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</a:pPr>
            <a:endParaRPr/>
          </a:p>
          <a:p>
            <a:pPr marL="755652" lvl="1" indent="-377826" algn="just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Awake(): Khởi tạo biến/Singleton. </a:t>
            </a:r>
          </a:p>
          <a:p>
            <a:pPr marL="755652" lvl="1" indent="-377826" algn="just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Start(): Thiết lập trạng thái ban đầu.</a:t>
            </a:r>
          </a:p>
          <a:p>
            <a:pPr marL="755652" lvl="1" indent="-377826" algn="just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Update(): Xử lý Input mỗi frame.</a:t>
            </a:r>
          </a:p>
          <a:p>
            <a:pPr marL="755652" lvl="1" indent="-377826" algn="just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OnDestroy(): Dọn dẹp bộ nhớ.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2709"/>
            <a:ext cx="18288000" cy="1643584"/>
            <a:chOff x="0" y="0"/>
            <a:chExt cx="4816593" cy="4328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32878"/>
            </a:xfrm>
            <a:custGeom>
              <a:avLst/>
              <a:gdLst/>
              <a:ahLst/>
              <a:cxnLst/>
              <a:rect l="l" t="t" r="r" b="b"/>
              <a:pathLst>
                <a:path w="4816592" h="432878">
                  <a:moveTo>
                    <a:pt x="0" y="0"/>
                  </a:moveTo>
                  <a:lnTo>
                    <a:pt x="4816592" y="0"/>
                  </a:lnTo>
                  <a:lnTo>
                    <a:pt x="4816592" y="432878"/>
                  </a:lnTo>
                  <a:lnTo>
                    <a:pt x="0" y="432878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49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89607" y="32709"/>
            <a:ext cx="1678186" cy="1643584"/>
          </a:xfrm>
          <a:custGeom>
            <a:avLst/>
            <a:gdLst/>
            <a:ahLst/>
            <a:cxnLst/>
            <a:rect l="l" t="t" r="r" b="b"/>
            <a:pathLst>
              <a:path w="1678186" h="1643584">
                <a:moveTo>
                  <a:pt x="0" y="0"/>
                </a:moveTo>
                <a:lnTo>
                  <a:pt x="1678186" y="0"/>
                </a:lnTo>
                <a:lnTo>
                  <a:pt x="1678186" y="1643584"/>
                </a:lnTo>
                <a:lnTo>
                  <a:pt x="0" y="1643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867793" y="55989"/>
            <a:ext cx="16420207" cy="1406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Mẫu thiết kế (Design Patterns) - 1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2483036"/>
            <a:ext cx="7710119" cy="5809026"/>
            <a:chOff x="0" y="0"/>
            <a:chExt cx="2030649" cy="15299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30649" cy="1529949"/>
            </a:xfrm>
            <a:custGeom>
              <a:avLst/>
              <a:gdLst/>
              <a:ahLst/>
              <a:cxnLst/>
              <a:rect l="l" t="t" r="r" b="b"/>
              <a:pathLst>
                <a:path w="2030649" h="1529949">
                  <a:moveTo>
                    <a:pt x="17070" y="0"/>
                  </a:moveTo>
                  <a:lnTo>
                    <a:pt x="2013579" y="0"/>
                  </a:lnTo>
                  <a:cubicBezTo>
                    <a:pt x="2023006" y="0"/>
                    <a:pt x="2030649" y="7643"/>
                    <a:pt x="2030649" y="17070"/>
                  </a:cubicBezTo>
                  <a:lnTo>
                    <a:pt x="2030649" y="1512879"/>
                  </a:lnTo>
                  <a:cubicBezTo>
                    <a:pt x="2030649" y="1522307"/>
                    <a:pt x="2023006" y="1529949"/>
                    <a:pt x="2013579" y="1529949"/>
                  </a:cubicBezTo>
                  <a:lnTo>
                    <a:pt x="17070" y="1529949"/>
                  </a:lnTo>
                  <a:cubicBezTo>
                    <a:pt x="7643" y="1529949"/>
                    <a:pt x="0" y="1522307"/>
                    <a:pt x="0" y="1512879"/>
                  </a:cubicBezTo>
                  <a:lnTo>
                    <a:pt x="0" y="17070"/>
                  </a:lnTo>
                  <a:cubicBezTo>
                    <a:pt x="0" y="7643"/>
                    <a:pt x="7643" y="0"/>
                    <a:pt x="1707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030649" cy="15775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`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93699" y="2610876"/>
            <a:ext cx="7216474" cy="229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Singleton Parttern</a:t>
            </a:r>
          </a:p>
          <a:p>
            <a:pPr algn="just">
              <a:lnSpc>
                <a:spcPts val="2800"/>
              </a:lnSpc>
            </a:pPr>
            <a:endParaRPr lang="en-US" sz="39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Đảm bảo duy nhất một thể hiện (Instance) toàn cục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37424" y="5387549"/>
            <a:ext cx="7329024" cy="1960608"/>
            <a:chOff x="0" y="0"/>
            <a:chExt cx="1930278" cy="51637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30278" cy="516374"/>
            </a:xfrm>
            <a:custGeom>
              <a:avLst/>
              <a:gdLst/>
              <a:ahLst/>
              <a:cxnLst/>
              <a:rect l="l" t="t" r="r" b="b"/>
              <a:pathLst>
                <a:path w="1930278" h="516374">
                  <a:moveTo>
                    <a:pt x="17958" y="0"/>
                  </a:moveTo>
                  <a:lnTo>
                    <a:pt x="1912320" y="0"/>
                  </a:lnTo>
                  <a:cubicBezTo>
                    <a:pt x="1922238" y="0"/>
                    <a:pt x="1930278" y="8040"/>
                    <a:pt x="1930278" y="17958"/>
                  </a:cubicBezTo>
                  <a:lnTo>
                    <a:pt x="1930278" y="498416"/>
                  </a:lnTo>
                  <a:cubicBezTo>
                    <a:pt x="1930278" y="503179"/>
                    <a:pt x="1928386" y="507747"/>
                    <a:pt x="1925018" y="511114"/>
                  </a:cubicBezTo>
                  <a:cubicBezTo>
                    <a:pt x="1921651" y="514482"/>
                    <a:pt x="1917083" y="516374"/>
                    <a:pt x="1912320" y="516374"/>
                  </a:cubicBezTo>
                  <a:lnTo>
                    <a:pt x="17958" y="516374"/>
                  </a:lnTo>
                  <a:cubicBezTo>
                    <a:pt x="8040" y="516374"/>
                    <a:pt x="0" y="508334"/>
                    <a:pt x="0" y="498416"/>
                  </a:cubicBezTo>
                  <a:lnTo>
                    <a:pt x="0" y="17958"/>
                  </a:lnTo>
                  <a:cubicBezTo>
                    <a:pt x="0" y="8040"/>
                    <a:pt x="8040" y="0"/>
                    <a:pt x="1795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930278" cy="563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93699" y="5477901"/>
            <a:ext cx="7216474" cy="175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// Kế thừa từ Generic Singleton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E17EB"/>
                </a:solidFill>
                <a:latin typeface="Noto Sans"/>
                <a:ea typeface="Noto Sans"/>
                <a:cs typeface="Noto Sans"/>
                <a:sym typeface="Noto Sans"/>
              </a:rPr>
              <a:t>public class</a:t>
            </a: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000">
                <a:solidFill>
                  <a:srgbClr val="7A6200"/>
                </a:solidFill>
                <a:latin typeface="Noto Sans"/>
                <a:ea typeface="Noto Sans"/>
                <a:cs typeface="Noto Sans"/>
                <a:sym typeface="Noto Sans"/>
              </a:rPr>
              <a:t>GameManager</a:t>
            </a: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: </a:t>
            </a:r>
            <a:r>
              <a:rPr lang="en-US" sz="2000">
                <a:solidFill>
                  <a:srgbClr val="7A6200"/>
                </a:solidFill>
                <a:latin typeface="Noto Sans"/>
                <a:ea typeface="Noto Sans"/>
                <a:cs typeface="Noto Sans"/>
                <a:sym typeface="Noto Sans"/>
              </a:rPr>
              <a:t>Singleton</a:t>
            </a: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&lt;</a:t>
            </a:r>
            <a:r>
              <a:rPr lang="en-US" sz="2000">
                <a:solidFill>
                  <a:srgbClr val="7A6200"/>
                </a:solidFill>
                <a:latin typeface="Noto Sans"/>
                <a:ea typeface="Noto Sans"/>
                <a:cs typeface="Noto Sans"/>
                <a:sym typeface="Noto Sans"/>
              </a:rPr>
              <a:t>GameManager</a:t>
            </a: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&gt;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{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  // ...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}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93699" y="7482304"/>
            <a:ext cx="483605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Áp dụng: GameManager, AudioManager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549181" y="2483036"/>
            <a:ext cx="7710119" cy="5809026"/>
            <a:chOff x="0" y="0"/>
            <a:chExt cx="2030649" cy="152994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30649" cy="1529949"/>
            </a:xfrm>
            <a:custGeom>
              <a:avLst/>
              <a:gdLst/>
              <a:ahLst/>
              <a:cxnLst/>
              <a:rect l="l" t="t" r="r" b="b"/>
              <a:pathLst>
                <a:path w="2030649" h="1529949">
                  <a:moveTo>
                    <a:pt x="17070" y="0"/>
                  </a:moveTo>
                  <a:lnTo>
                    <a:pt x="2013579" y="0"/>
                  </a:lnTo>
                  <a:cubicBezTo>
                    <a:pt x="2023006" y="0"/>
                    <a:pt x="2030649" y="7643"/>
                    <a:pt x="2030649" y="17070"/>
                  </a:cubicBezTo>
                  <a:lnTo>
                    <a:pt x="2030649" y="1512879"/>
                  </a:lnTo>
                  <a:cubicBezTo>
                    <a:pt x="2030649" y="1522307"/>
                    <a:pt x="2023006" y="1529949"/>
                    <a:pt x="2013579" y="1529949"/>
                  </a:cubicBezTo>
                  <a:lnTo>
                    <a:pt x="17070" y="1529949"/>
                  </a:lnTo>
                  <a:cubicBezTo>
                    <a:pt x="7643" y="1529949"/>
                    <a:pt x="0" y="1522307"/>
                    <a:pt x="0" y="1512879"/>
                  </a:cubicBezTo>
                  <a:lnTo>
                    <a:pt x="0" y="17070"/>
                  </a:lnTo>
                  <a:cubicBezTo>
                    <a:pt x="0" y="7643"/>
                    <a:pt x="7643" y="0"/>
                    <a:pt x="1707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2030649" cy="15775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`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814180" y="2610876"/>
            <a:ext cx="7216474" cy="2914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Observer Pattern</a:t>
            </a:r>
          </a:p>
          <a:p>
            <a:pPr algn="just">
              <a:lnSpc>
                <a:spcPts val="2800"/>
              </a:lnSpc>
            </a:pPr>
            <a:endParaRPr lang="en-US" sz="39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Cơ chế thông báo sự kiện (Event - Driven), giảm sự phụ thuộc (loose Coupling)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814180" y="5569322"/>
            <a:ext cx="7329024" cy="1960608"/>
            <a:chOff x="0" y="0"/>
            <a:chExt cx="1930278" cy="51637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30278" cy="516374"/>
            </a:xfrm>
            <a:custGeom>
              <a:avLst/>
              <a:gdLst/>
              <a:ahLst/>
              <a:cxnLst/>
              <a:rect l="l" t="t" r="r" b="b"/>
              <a:pathLst>
                <a:path w="1930278" h="516374">
                  <a:moveTo>
                    <a:pt x="17958" y="0"/>
                  </a:moveTo>
                  <a:lnTo>
                    <a:pt x="1912320" y="0"/>
                  </a:lnTo>
                  <a:cubicBezTo>
                    <a:pt x="1922238" y="0"/>
                    <a:pt x="1930278" y="8040"/>
                    <a:pt x="1930278" y="17958"/>
                  </a:cubicBezTo>
                  <a:lnTo>
                    <a:pt x="1930278" y="498416"/>
                  </a:lnTo>
                  <a:cubicBezTo>
                    <a:pt x="1930278" y="503179"/>
                    <a:pt x="1928386" y="507747"/>
                    <a:pt x="1925018" y="511114"/>
                  </a:cubicBezTo>
                  <a:cubicBezTo>
                    <a:pt x="1921651" y="514482"/>
                    <a:pt x="1917083" y="516374"/>
                    <a:pt x="1912320" y="516374"/>
                  </a:cubicBezTo>
                  <a:lnTo>
                    <a:pt x="17958" y="516374"/>
                  </a:lnTo>
                  <a:cubicBezTo>
                    <a:pt x="8040" y="516374"/>
                    <a:pt x="0" y="508334"/>
                    <a:pt x="0" y="498416"/>
                  </a:cubicBezTo>
                  <a:lnTo>
                    <a:pt x="0" y="17958"/>
                  </a:lnTo>
                  <a:cubicBezTo>
                    <a:pt x="0" y="8040"/>
                    <a:pt x="8040" y="0"/>
                    <a:pt x="1795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930278" cy="563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926729" y="5646338"/>
            <a:ext cx="7216474" cy="175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// Khai báo sự kiện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E17EB"/>
                </a:solidFill>
                <a:latin typeface="Noto Sans"/>
                <a:ea typeface="Noto Sans"/>
                <a:cs typeface="Noto Sans"/>
                <a:sym typeface="Noto Sans"/>
              </a:rPr>
              <a:t>public</a:t>
            </a: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UnityEvent&lt;GameState&gt; OnGameStateChanged;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// Bắn sự kiện khi đổi trạng thái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OnGameStateChanged?.Invoke(newState);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796003" y="7778396"/>
            <a:ext cx="5022585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Áp dụng: UI cập nhật điểm khi Rắn ăn mồi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2709"/>
            <a:ext cx="18288000" cy="1643584"/>
            <a:chOff x="0" y="0"/>
            <a:chExt cx="4816593" cy="4328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32878"/>
            </a:xfrm>
            <a:custGeom>
              <a:avLst/>
              <a:gdLst/>
              <a:ahLst/>
              <a:cxnLst/>
              <a:rect l="l" t="t" r="r" b="b"/>
              <a:pathLst>
                <a:path w="4816592" h="432878">
                  <a:moveTo>
                    <a:pt x="0" y="0"/>
                  </a:moveTo>
                  <a:lnTo>
                    <a:pt x="4816592" y="0"/>
                  </a:lnTo>
                  <a:lnTo>
                    <a:pt x="4816592" y="432878"/>
                  </a:lnTo>
                  <a:lnTo>
                    <a:pt x="0" y="432878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49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32709"/>
            <a:ext cx="1678186" cy="1643584"/>
          </a:xfrm>
          <a:custGeom>
            <a:avLst/>
            <a:gdLst/>
            <a:ahLst/>
            <a:cxnLst/>
            <a:rect l="l" t="t" r="r" b="b"/>
            <a:pathLst>
              <a:path w="1678186" h="1643584">
                <a:moveTo>
                  <a:pt x="0" y="0"/>
                </a:moveTo>
                <a:lnTo>
                  <a:pt x="1678186" y="0"/>
                </a:lnTo>
                <a:lnTo>
                  <a:pt x="1678186" y="1643584"/>
                </a:lnTo>
                <a:lnTo>
                  <a:pt x="0" y="1643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55989"/>
            <a:ext cx="18288000" cy="1406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Mẫu thiết kế (Design Patterns) - 2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2483036"/>
            <a:ext cx="7710119" cy="6034127"/>
            <a:chOff x="0" y="0"/>
            <a:chExt cx="2030649" cy="158923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30649" cy="1589235"/>
            </a:xfrm>
            <a:custGeom>
              <a:avLst/>
              <a:gdLst/>
              <a:ahLst/>
              <a:cxnLst/>
              <a:rect l="l" t="t" r="r" b="b"/>
              <a:pathLst>
                <a:path w="2030649" h="1589235">
                  <a:moveTo>
                    <a:pt x="17070" y="0"/>
                  </a:moveTo>
                  <a:lnTo>
                    <a:pt x="2013579" y="0"/>
                  </a:lnTo>
                  <a:cubicBezTo>
                    <a:pt x="2023006" y="0"/>
                    <a:pt x="2030649" y="7643"/>
                    <a:pt x="2030649" y="17070"/>
                  </a:cubicBezTo>
                  <a:lnTo>
                    <a:pt x="2030649" y="1572165"/>
                  </a:lnTo>
                  <a:cubicBezTo>
                    <a:pt x="2030649" y="1581592"/>
                    <a:pt x="2023006" y="1589235"/>
                    <a:pt x="2013579" y="1589235"/>
                  </a:cubicBezTo>
                  <a:lnTo>
                    <a:pt x="17070" y="1589235"/>
                  </a:lnTo>
                  <a:cubicBezTo>
                    <a:pt x="7643" y="1589235"/>
                    <a:pt x="0" y="1581592"/>
                    <a:pt x="0" y="1572165"/>
                  </a:cubicBezTo>
                  <a:lnTo>
                    <a:pt x="0" y="17070"/>
                  </a:lnTo>
                  <a:cubicBezTo>
                    <a:pt x="0" y="7643"/>
                    <a:pt x="7643" y="0"/>
                    <a:pt x="1707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030649" cy="1646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`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522345" y="2610876"/>
            <a:ext cx="7013884" cy="574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Pooling</a:t>
            </a:r>
          </a:p>
          <a:p>
            <a:pPr algn="just">
              <a:lnSpc>
                <a:spcPts val="5599"/>
              </a:lnSpc>
            </a:pPr>
            <a:endParaRPr lang="en-US" sz="3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Tái sử dụng đối tượng thay vì huỷ hoặc là tạo mới liên tục.</a:t>
            </a:r>
          </a:p>
          <a:p>
            <a:pPr marL="755642" lvl="1" indent="-377821" algn="just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Giảm tải cho Garbage Collector (GC).</a:t>
            </a:r>
          </a:p>
          <a:p>
            <a:pPr marL="755642" lvl="1" indent="-377821" algn="just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Tránh giật lag (Spike lag).</a:t>
            </a:r>
          </a:p>
          <a:p>
            <a:pPr marL="755642" lvl="1" indent="-377821" algn="just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>
                <a:solidFill>
                  <a:srgbClr val="78AF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Áp dụng:</a:t>
            </a: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Hệ thống âm thanh (SFX).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549181" y="2483036"/>
            <a:ext cx="7710119" cy="5809026"/>
            <a:chOff x="0" y="0"/>
            <a:chExt cx="2030649" cy="152994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30649" cy="1529949"/>
            </a:xfrm>
            <a:custGeom>
              <a:avLst/>
              <a:gdLst/>
              <a:ahLst/>
              <a:cxnLst/>
              <a:rect l="l" t="t" r="r" b="b"/>
              <a:pathLst>
                <a:path w="2030649" h="1529949">
                  <a:moveTo>
                    <a:pt x="17070" y="0"/>
                  </a:moveTo>
                  <a:lnTo>
                    <a:pt x="2013579" y="0"/>
                  </a:lnTo>
                  <a:cubicBezTo>
                    <a:pt x="2023006" y="0"/>
                    <a:pt x="2030649" y="7643"/>
                    <a:pt x="2030649" y="17070"/>
                  </a:cubicBezTo>
                  <a:lnTo>
                    <a:pt x="2030649" y="1512879"/>
                  </a:lnTo>
                  <a:cubicBezTo>
                    <a:pt x="2030649" y="1522307"/>
                    <a:pt x="2023006" y="1529949"/>
                    <a:pt x="2013579" y="1529949"/>
                  </a:cubicBezTo>
                  <a:lnTo>
                    <a:pt x="17070" y="1529949"/>
                  </a:lnTo>
                  <a:cubicBezTo>
                    <a:pt x="7643" y="1529949"/>
                    <a:pt x="0" y="1522307"/>
                    <a:pt x="0" y="1512879"/>
                  </a:cubicBezTo>
                  <a:lnTo>
                    <a:pt x="0" y="17070"/>
                  </a:lnTo>
                  <a:cubicBezTo>
                    <a:pt x="0" y="7643"/>
                    <a:pt x="7643" y="0"/>
                    <a:pt x="1707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030649" cy="1587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`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814180" y="2610876"/>
            <a:ext cx="7216474" cy="3886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ScriptableObject</a:t>
            </a:r>
          </a:p>
          <a:p>
            <a:pPr algn="just">
              <a:lnSpc>
                <a:spcPts val="5599"/>
              </a:lnSpc>
            </a:pPr>
            <a:endParaRPr lang="en-US" sz="3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Lưu trữ dữ liệu độc lập với logic code.</a:t>
            </a:r>
          </a:p>
          <a:p>
            <a:pPr marL="755642" lvl="1" indent="-377821" algn="just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Quản lý cấu hình rõ ràng.</a:t>
            </a:r>
          </a:p>
          <a:p>
            <a:pPr marL="755642" lvl="1" indent="-377821" algn="just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>
                <a:solidFill>
                  <a:srgbClr val="78AF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Áp dụng:</a:t>
            </a: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ColorPalette (Theme Màu Sắc)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2709"/>
            <a:ext cx="18288000" cy="1643584"/>
            <a:chOff x="0" y="0"/>
            <a:chExt cx="4816593" cy="4328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32878"/>
            </a:xfrm>
            <a:custGeom>
              <a:avLst/>
              <a:gdLst/>
              <a:ahLst/>
              <a:cxnLst/>
              <a:rect l="l" t="t" r="r" b="b"/>
              <a:pathLst>
                <a:path w="4816592" h="432878">
                  <a:moveTo>
                    <a:pt x="0" y="0"/>
                  </a:moveTo>
                  <a:lnTo>
                    <a:pt x="4816592" y="0"/>
                  </a:lnTo>
                  <a:lnTo>
                    <a:pt x="4816592" y="432878"/>
                  </a:lnTo>
                  <a:lnTo>
                    <a:pt x="0" y="432878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49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32709"/>
            <a:ext cx="1678186" cy="1643584"/>
          </a:xfrm>
          <a:custGeom>
            <a:avLst/>
            <a:gdLst/>
            <a:ahLst/>
            <a:cxnLst/>
            <a:rect l="l" t="t" r="r" b="b"/>
            <a:pathLst>
              <a:path w="1678186" h="1643584">
                <a:moveTo>
                  <a:pt x="0" y="0"/>
                </a:moveTo>
                <a:lnTo>
                  <a:pt x="1678186" y="0"/>
                </a:lnTo>
                <a:lnTo>
                  <a:pt x="1678186" y="1643584"/>
                </a:lnTo>
                <a:lnTo>
                  <a:pt x="0" y="1643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01009" y="2418117"/>
            <a:ext cx="8295341" cy="6477515"/>
            <a:chOff x="0" y="0"/>
            <a:chExt cx="2184781" cy="17060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84781" cy="1706012"/>
            </a:xfrm>
            <a:custGeom>
              <a:avLst/>
              <a:gdLst/>
              <a:ahLst/>
              <a:cxnLst/>
              <a:rect l="l" t="t" r="r" b="b"/>
              <a:pathLst>
                <a:path w="2184781" h="1706012">
                  <a:moveTo>
                    <a:pt x="15866" y="0"/>
                  </a:moveTo>
                  <a:lnTo>
                    <a:pt x="2168915" y="0"/>
                  </a:lnTo>
                  <a:cubicBezTo>
                    <a:pt x="2173123" y="0"/>
                    <a:pt x="2177159" y="1672"/>
                    <a:pt x="2180134" y="4647"/>
                  </a:cubicBezTo>
                  <a:cubicBezTo>
                    <a:pt x="2183110" y="7622"/>
                    <a:pt x="2184781" y="11658"/>
                    <a:pt x="2184781" y="15866"/>
                  </a:cubicBezTo>
                  <a:lnTo>
                    <a:pt x="2184781" y="1690146"/>
                  </a:lnTo>
                  <a:cubicBezTo>
                    <a:pt x="2184781" y="1694354"/>
                    <a:pt x="2183110" y="1698390"/>
                    <a:pt x="2180134" y="1701365"/>
                  </a:cubicBezTo>
                  <a:cubicBezTo>
                    <a:pt x="2177159" y="1704341"/>
                    <a:pt x="2173123" y="1706012"/>
                    <a:pt x="2168915" y="1706012"/>
                  </a:cubicBezTo>
                  <a:lnTo>
                    <a:pt x="15866" y="1706012"/>
                  </a:lnTo>
                  <a:cubicBezTo>
                    <a:pt x="11658" y="1706012"/>
                    <a:pt x="7622" y="1704341"/>
                    <a:pt x="4647" y="1701365"/>
                  </a:cubicBezTo>
                  <a:cubicBezTo>
                    <a:pt x="1672" y="1698390"/>
                    <a:pt x="0" y="1694354"/>
                    <a:pt x="0" y="1690146"/>
                  </a:cubicBezTo>
                  <a:lnTo>
                    <a:pt x="0" y="15866"/>
                  </a:lnTo>
                  <a:cubicBezTo>
                    <a:pt x="0" y="11658"/>
                    <a:pt x="1672" y="7622"/>
                    <a:pt x="4647" y="4647"/>
                  </a:cubicBezTo>
                  <a:cubicBezTo>
                    <a:pt x="7622" y="1672"/>
                    <a:pt x="11658" y="0"/>
                    <a:pt x="1586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78AF57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184781" cy="1753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39093" y="2511373"/>
            <a:ext cx="7768937" cy="5909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Tối ưu hoá Grid</a:t>
            </a: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Không dùng Physics Engine BoxCollision2D) để tránh sai số Floating Point.</a:t>
            </a:r>
          </a:p>
          <a:p>
            <a:pPr algn="just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Colliision Detection</a:t>
            </a: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 dụng HastSet thay vì List.</a:t>
            </a:r>
          </a:p>
          <a:p>
            <a:pPr algn="just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Kiểm tra va chạm tức thì dù rắn dài bao nhiêu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39093" y="6291512"/>
            <a:ext cx="7768937" cy="1150237"/>
            <a:chOff x="0" y="0"/>
            <a:chExt cx="2046140" cy="30294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46140" cy="302943"/>
            </a:xfrm>
            <a:custGeom>
              <a:avLst/>
              <a:gdLst/>
              <a:ahLst/>
              <a:cxnLst/>
              <a:rect l="l" t="t" r="r" b="b"/>
              <a:pathLst>
                <a:path w="2046140" h="302943">
                  <a:moveTo>
                    <a:pt x="16941" y="0"/>
                  </a:moveTo>
                  <a:lnTo>
                    <a:pt x="2029199" y="0"/>
                  </a:lnTo>
                  <a:cubicBezTo>
                    <a:pt x="2038555" y="0"/>
                    <a:pt x="2046140" y="7585"/>
                    <a:pt x="2046140" y="16941"/>
                  </a:cubicBezTo>
                  <a:lnTo>
                    <a:pt x="2046140" y="286002"/>
                  </a:lnTo>
                  <a:cubicBezTo>
                    <a:pt x="2046140" y="295358"/>
                    <a:pt x="2038555" y="302943"/>
                    <a:pt x="2029199" y="302943"/>
                  </a:cubicBezTo>
                  <a:lnTo>
                    <a:pt x="16941" y="302943"/>
                  </a:lnTo>
                  <a:cubicBezTo>
                    <a:pt x="7585" y="302943"/>
                    <a:pt x="0" y="295358"/>
                    <a:pt x="0" y="286002"/>
                  </a:cubicBezTo>
                  <a:lnTo>
                    <a:pt x="0" y="16941"/>
                  </a:lnTo>
                  <a:cubicBezTo>
                    <a:pt x="0" y="7585"/>
                    <a:pt x="7585" y="0"/>
                    <a:pt x="1694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046140" cy="350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9344215" y="3478548"/>
            <a:ext cx="7727985" cy="4356652"/>
          </a:xfrm>
          <a:custGeom>
            <a:avLst/>
            <a:gdLst/>
            <a:ahLst/>
            <a:cxnLst/>
            <a:rect l="l" t="t" r="r" b="b"/>
            <a:pathLst>
              <a:path w="7727985" h="4356652">
                <a:moveTo>
                  <a:pt x="0" y="0"/>
                </a:moveTo>
                <a:lnTo>
                  <a:pt x="7727985" y="0"/>
                </a:lnTo>
                <a:lnTo>
                  <a:pt x="7727985" y="4356652"/>
                </a:lnTo>
                <a:lnTo>
                  <a:pt x="0" y="4356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0" y="-206280"/>
            <a:ext cx="18288000" cy="175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22"/>
              </a:lnSpc>
              <a:spcBef>
                <a:spcPct val="0"/>
              </a:spcBef>
            </a:pPr>
            <a:r>
              <a:rPr lang="en-US" sz="100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Hệ thống lưới &amp; va chạm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6491546"/>
            <a:ext cx="4119414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1E5F9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Comlexity: O(1) vs O(N)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2709"/>
            <a:ext cx="18288000" cy="1643584"/>
            <a:chOff x="0" y="0"/>
            <a:chExt cx="4816593" cy="4328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32878"/>
            </a:xfrm>
            <a:custGeom>
              <a:avLst/>
              <a:gdLst/>
              <a:ahLst/>
              <a:cxnLst/>
              <a:rect l="l" t="t" r="r" b="b"/>
              <a:pathLst>
                <a:path w="4816592" h="432878">
                  <a:moveTo>
                    <a:pt x="0" y="0"/>
                  </a:moveTo>
                  <a:lnTo>
                    <a:pt x="4816592" y="0"/>
                  </a:lnTo>
                  <a:lnTo>
                    <a:pt x="4816592" y="432878"/>
                  </a:lnTo>
                  <a:lnTo>
                    <a:pt x="0" y="432878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49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32709"/>
            <a:ext cx="1678186" cy="1643584"/>
          </a:xfrm>
          <a:custGeom>
            <a:avLst/>
            <a:gdLst/>
            <a:ahLst/>
            <a:cxnLst/>
            <a:rect l="l" t="t" r="r" b="b"/>
            <a:pathLst>
              <a:path w="1678186" h="1643584">
                <a:moveTo>
                  <a:pt x="0" y="0"/>
                </a:moveTo>
                <a:lnTo>
                  <a:pt x="1678186" y="0"/>
                </a:lnTo>
                <a:lnTo>
                  <a:pt x="1678186" y="1643584"/>
                </a:lnTo>
                <a:lnTo>
                  <a:pt x="0" y="1643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3117846"/>
            <a:ext cx="8115300" cy="5234368"/>
          </a:xfrm>
          <a:custGeom>
            <a:avLst/>
            <a:gdLst/>
            <a:ahLst/>
            <a:cxnLst/>
            <a:rect l="l" t="t" r="r" b="b"/>
            <a:pathLst>
              <a:path w="8115300" h="5234368">
                <a:moveTo>
                  <a:pt x="0" y="0"/>
                </a:moveTo>
                <a:lnTo>
                  <a:pt x="8115300" y="0"/>
                </a:lnTo>
                <a:lnTo>
                  <a:pt x="8115300" y="5234369"/>
                </a:lnTo>
                <a:lnTo>
                  <a:pt x="0" y="52343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0" y="-206280"/>
            <a:ext cx="18288000" cy="175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22"/>
              </a:lnSpc>
              <a:spcBef>
                <a:spcPct val="0"/>
              </a:spcBef>
            </a:pPr>
            <a:r>
              <a:rPr lang="en-US" sz="1001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Thuật toán BFS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13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144000" y="2392996"/>
            <a:ext cx="8115300" cy="6865304"/>
            <a:chOff x="0" y="0"/>
            <a:chExt cx="2137363" cy="180814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37363" cy="1808146"/>
            </a:xfrm>
            <a:custGeom>
              <a:avLst/>
              <a:gdLst/>
              <a:ahLst/>
              <a:cxnLst/>
              <a:rect l="l" t="t" r="r" b="b"/>
              <a:pathLst>
                <a:path w="2137363" h="1808146">
                  <a:moveTo>
                    <a:pt x="16218" y="0"/>
                  </a:moveTo>
                  <a:lnTo>
                    <a:pt x="2121145" y="0"/>
                  </a:lnTo>
                  <a:cubicBezTo>
                    <a:pt x="2130102" y="0"/>
                    <a:pt x="2137363" y="7261"/>
                    <a:pt x="2137363" y="16218"/>
                  </a:cubicBezTo>
                  <a:lnTo>
                    <a:pt x="2137363" y="1791928"/>
                  </a:lnTo>
                  <a:cubicBezTo>
                    <a:pt x="2137363" y="1800885"/>
                    <a:pt x="2130102" y="1808146"/>
                    <a:pt x="2121145" y="1808146"/>
                  </a:cubicBezTo>
                  <a:lnTo>
                    <a:pt x="16218" y="1808146"/>
                  </a:lnTo>
                  <a:cubicBezTo>
                    <a:pt x="7261" y="1808146"/>
                    <a:pt x="0" y="1800885"/>
                    <a:pt x="0" y="1791928"/>
                  </a:cubicBezTo>
                  <a:lnTo>
                    <a:pt x="0" y="16218"/>
                  </a:lnTo>
                  <a:cubicBezTo>
                    <a:pt x="0" y="7261"/>
                    <a:pt x="7261" y="0"/>
                    <a:pt x="1621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137363" cy="18652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`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473069" y="2618465"/>
            <a:ext cx="7464444" cy="6492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999"/>
              </a:lnSpc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Breadth-Fisrst Search</a:t>
            </a:r>
          </a:p>
          <a:p>
            <a:pPr algn="just">
              <a:lnSpc>
                <a:spcPts val="5999"/>
              </a:lnSpc>
            </a:pPr>
            <a:endParaRPr lang="en-US" sz="39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just">
              <a:lnSpc>
                <a:spcPts val="5250"/>
              </a:lnSpc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Tìm kiếm theo chiều rộng để tìm đường ngắn nhất đến thức ăn.</a:t>
            </a:r>
          </a:p>
          <a:p>
            <a:pPr marL="690881" lvl="1" indent="-345440" algn="just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Cấu trúc: Queue (hàng đợi) + HastSet (Đã thăm)</a:t>
            </a:r>
          </a:p>
          <a:p>
            <a:pPr marL="690881" lvl="1" indent="-345440" algn="just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 phức tạp : O(V + E).</a:t>
            </a:r>
          </a:p>
          <a:p>
            <a:pPr marL="690881" lvl="1" indent="-345440" algn="just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Ưu điểm: Luôn tìm ra Shortest Path trên đồ thị không trọng số.</a:t>
            </a:r>
          </a:p>
          <a:p>
            <a:pPr marL="690881" lvl="1" indent="-345440" algn="just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Hiệu năng: Rất nhanh trên lưới 40x30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2709"/>
            <a:ext cx="18288000" cy="1643584"/>
            <a:chOff x="0" y="0"/>
            <a:chExt cx="4816593" cy="4328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32878"/>
            </a:xfrm>
            <a:custGeom>
              <a:avLst/>
              <a:gdLst/>
              <a:ahLst/>
              <a:cxnLst/>
              <a:rect l="l" t="t" r="r" b="b"/>
              <a:pathLst>
                <a:path w="4816592" h="432878">
                  <a:moveTo>
                    <a:pt x="0" y="0"/>
                  </a:moveTo>
                  <a:lnTo>
                    <a:pt x="4816592" y="0"/>
                  </a:lnTo>
                  <a:lnTo>
                    <a:pt x="4816592" y="432878"/>
                  </a:lnTo>
                  <a:lnTo>
                    <a:pt x="0" y="432878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49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32709"/>
            <a:ext cx="1678186" cy="1643584"/>
          </a:xfrm>
          <a:custGeom>
            <a:avLst/>
            <a:gdLst/>
            <a:ahLst/>
            <a:cxnLst/>
            <a:rect l="l" t="t" r="r" b="b"/>
            <a:pathLst>
              <a:path w="1678186" h="1643584">
                <a:moveTo>
                  <a:pt x="0" y="0"/>
                </a:moveTo>
                <a:lnTo>
                  <a:pt x="1678186" y="0"/>
                </a:lnTo>
                <a:lnTo>
                  <a:pt x="1678186" y="1643584"/>
                </a:lnTo>
                <a:lnTo>
                  <a:pt x="0" y="1643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144000" y="3592882"/>
            <a:ext cx="8115300" cy="4564856"/>
          </a:xfrm>
          <a:custGeom>
            <a:avLst/>
            <a:gdLst/>
            <a:ahLst/>
            <a:cxnLst/>
            <a:rect l="l" t="t" r="r" b="b"/>
            <a:pathLst>
              <a:path w="8115300" h="4564856">
                <a:moveTo>
                  <a:pt x="0" y="0"/>
                </a:moveTo>
                <a:lnTo>
                  <a:pt x="8115300" y="0"/>
                </a:lnTo>
                <a:lnTo>
                  <a:pt x="8115300" y="4564856"/>
                </a:lnTo>
                <a:lnTo>
                  <a:pt x="0" y="45648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0" y="-206280"/>
            <a:ext cx="18288000" cy="175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22"/>
              </a:lnSpc>
              <a:spcBef>
                <a:spcPct val="0"/>
              </a:spcBef>
            </a:pPr>
            <a:r>
              <a:rPr lang="en-US" sz="1001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Thuật toán Flood Fill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14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39093" y="2636552"/>
            <a:ext cx="8295341" cy="6621748"/>
            <a:chOff x="0" y="0"/>
            <a:chExt cx="2184781" cy="174399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84781" cy="1743999"/>
            </a:xfrm>
            <a:custGeom>
              <a:avLst/>
              <a:gdLst/>
              <a:ahLst/>
              <a:cxnLst/>
              <a:rect l="l" t="t" r="r" b="b"/>
              <a:pathLst>
                <a:path w="2184781" h="1743999">
                  <a:moveTo>
                    <a:pt x="15866" y="0"/>
                  </a:moveTo>
                  <a:lnTo>
                    <a:pt x="2168915" y="0"/>
                  </a:lnTo>
                  <a:cubicBezTo>
                    <a:pt x="2173123" y="0"/>
                    <a:pt x="2177159" y="1672"/>
                    <a:pt x="2180134" y="4647"/>
                  </a:cubicBezTo>
                  <a:cubicBezTo>
                    <a:pt x="2183110" y="7622"/>
                    <a:pt x="2184781" y="11658"/>
                    <a:pt x="2184781" y="15866"/>
                  </a:cubicBezTo>
                  <a:lnTo>
                    <a:pt x="2184781" y="1728133"/>
                  </a:lnTo>
                  <a:cubicBezTo>
                    <a:pt x="2184781" y="1732341"/>
                    <a:pt x="2183110" y="1736377"/>
                    <a:pt x="2180134" y="1739352"/>
                  </a:cubicBezTo>
                  <a:cubicBezTo>
                    <a:pt x="2177159" y="1742328"/>
                    <a:pt x="2173123" y="1743999"/>
                    <a:pt x="2168915" y="1743999"/>
                  </a:cubicBezTo>
                  <a:lnTo>
                    <a:pt x="15866" y="1743999"/>
                  </a:lnTo>
                  <a:cubicBezTo>
                    <a:pt x="11658" y="1743999"/>
                    <a:pt x="7622" y="1742328"/>
                    <a:pt x="4647" y="1739352"/>
                  </a:cubicBezTo>
                  <a:cubicBezTo>
                    <a:pt x="1672" y="1736377"/>
                    <a:pt x="0" y="1732341"/>
                    <a:pt x="0" y="1728133"/>
                  </a:cubicBezTo>
                  <a:lnTo>
                    <a:pt x="0" y="15866"/>
                  </a:lnTo>
                  <a:cubicBezTo>
                    <a:pt x="0" y="11658"/>
                    <a:pt x="1672" y="7622"/>
                    <a:pt x="4647" y="4647"/>
                  </a:cubicBezTo>
                  <a:cubicBezTo>
                    <a:pt x="7622" y="1672"/>
                    <a:pt x="11658" y="0"/>
                    <a:pt x="1586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78AF57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184781" cy="17916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2701718"/>
            <a:ext cx="7906961" cy="6433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Ứng dụng trong AI</a:t>
            </a:r>
          </a:p>
          <a:p>
            <a:pPr algn="just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 AI bị bao vây (không tìm  thấy đường BFS):</a:t>
            </a: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Kích hoạt thuật toán Flood Fill.</a:t>
            </a: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Đếm số ô trống (Free Space) ở 4 hướng.</a:t>
            </a: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Chọn hướng có không gian rộng nhất để “câu giờ”.</a:t>
            </a:r>
          </a:p>
          <a:p>
            <a:pPr algn="just">
              <a:lnSpc>
                <a:spcPts val="2800"/>
              </a:lnSpc>
            </a:pPr>
            <a:endParaRPr lang="en-US" sz="3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Heuristic Function</a:t>
            </a:r>
          </a:p>
          <a:p>
            <a:pPr algn="just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 dụng khoảng cách Manhattan:</a:t>
            </a: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 i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|x1 -x2| + |y1 - y2|.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2709"/>
            <a:ext cx="18288000" cy="1643584"/>
            <a:chOff x="0" y="0"/>
            <a:chExt cx="4816593" cy="4328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32878"/>
            </a:xfrm>
            <a:custGeom>
              <a:avLst/>
              <a:gdLst/>
              <a:ahLst/>
              <a:cxnLst/>
              <a:rect l="l" t="t" r="r" b="b"/>
              <a:pathLst>
                <a:path w="4816592" h="432878">
                  <a:moveTo>
                    <a:pt x="0" y="0"/>
                  </a:moveTo>
                  <a:lnTo>
                    <a:pt x="4816592" y="0"/>
                  </a:lnTo>
                  <a:lnTo>
                    <a:pt x="4816592" y="432878"/>
                  </a:lnTo>
                  <a:lnTo>
                    <a:pt x="0" y="432878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49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32709"/>
            <a:ext cx="1678186" cy="1643584"/>
          </a:xfrm>
          <a:custGeom>
            <a:avLst/>
            <a:gdLst/>
            <a:ahLst/>
            <a:cxnLst/>
            <a:rect l="l" t="t" r="r" b="b"/>
            <a:pathLst>
              <a:path w="1678186" h="1643584">
                <a:moveTo>
                  <a:pt x="0" y="0"/>
                </a:moveTo>
                <a:lnTo>
                  <a:pt x="1678186" y="0"/>
                </a:lnTo>
                <a:lnTo>
                  <a:pt x="1678186" y="1643584"/>
                </a:lnTo>
                <a:lnTo>
                  <a:pt x="0" y="1643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-206280"/>
            <a:ext cx="18288000" cy="175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22"/>
              </a:lnSpc>
              <a:spcBef>
                <a:spcPct val="0"/>
              </a:spcBef>
            </a:pPr>
            <a:r>
              <a:rPr lang="en-US" sz="100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Ứng dụng toán học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15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84367" y="3860143"/>
            <a:ext cx="5191954" cy="4414192"/>
            <a:chOff x="0" y="0"/>
            <a:chExt cx="1367428" cy="11625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67428" cy="1162586"/>
            </a:xfrm>
            <a:custGeom>
              <a:avLst/>
              <a:gdLst/>
              <a:ahLst/>
              <a:cxnLst/>
              <a:rect l="l" t="t" r="r" b="b"/>
              <a:pathLst>
                <a:path w="1367428" h="1162586">
                  <a:moveTo>
                    <a:pt x="25349" y="0"/>
                  </a:moveTo>
                  <a:lnTo>
                    <a:pt x="1342079" y="0"/>
                  </a:lnTo>
                  <a:cubicBezTo>
                    <a:pt x="1348802" y="0"/>
                    <a:pt x="1355250" y="2671"/>
                    <a:pt x="1360004" y="7425"/>
                  </a:cubicBezTo>
                  <a:cubicBezTo>
                    <a:pt x="1364757" y="12179"/>
                    <a:pt x="1367428" y="18626"/>
                    <a:pt x="1367428" y="25349"/>
                  </a:cubicBezTo>
                  <a:lnTo>
                    <a:pt x="1367428" y="1137236"/>
                  </a:lnTo>
                  <a:cubicBezTo>
                    <a:pt x="1367428" y="1151236"/>
                    <a:pt x="1356079" y="1162586"/>
                    <a:pt x="1342079" y="1162586"/>
                  </a:cubicBezTo>
                  <a:lnTo>
                    <a:pt x="25349" y="1162586"/>
                  </a:lnTo>
                  <a:cubicBezTo>
                    <a:pt x="18626" y="1162586"/>
                    <a:pt x="12179" y="1159915"/>
                    <a:pt x="7425" y="1155161"/>
                  </a:cubicBezTo>
                  <a:cubicBezTo>
                    <a:pt x="2671" y="1150407"/>
                    <a:pt x="0" y="1143959"/>
                    <a:pt x="0" y="1137236"/>
                  </a:cubicBezTo>
                  <a:lnTo>
                    <a:pt x="0" y="25349"/>
                  </a:lnTo>
                  <a:cubicBezTo>
                    <a:pt x="0" y="18626"/>
                    <a:pt x="2671" y="12179"/>
                    <a:pt x="7425" y="7425"/>
                  </a:cubicBezTo>
                  <a:cubicBezTo>
                    <a:pt x="12179" y="2671"/>
                    <a:pt x="18626" y="0"/>
                    <a:pt x="253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367428" cy="121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550283" y="3957339"/>
            <a:ext cx="5191954" cy="4414192"/>
            <a:chOff x="0" y="0"/>
            <a:chExt cx="1367428" cy="11625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67428" cy="1162586"/>
            </a:xfrm>
            <a:custGeom>
              <a:avLst/>
              <a:gdLst/>
              <a:ahLst/>
              <a:cxnLst/>
              <a:rect l="l" t="t" r="r" b="b"/>
              <a:pathLst>
                <a:path w="1367428" h="1162586">
                  <a:moveTo>
                    <a:pt x="25349" y="0"/>
                  </a:moveTo>
                  <a:lnTo>
                    <a:pt x="1342079" y="0"/>
                  </a:lnTo>
                  <a:cubicBezTo>
                    <a:pt x="1348802" y="0"/>
                    <a:pt x="1355250" y="2671"/>
                    <a:pt x="1360004" y="7425"/>
                  </a:cubicBezTo>
                  <a:cubicBezTo>
                    <a:pt x="1364757" y="12179"/>
                    <a:pt x="1367428" y="18626"/>
                    <a:pt x="1367428" y="25349"/>
                  </a:cubicBezTo>
                  <a:lnTo>
                    <a:pt x="1367428" y="1137236"/>
                  </a:lnTo>
                  <a:cubicBezTo>
                    <a:pt x="1367428" y="1151236"/>
                    <a:pt x="1356079" y="1162586"/>
                    <a:pt x="1342079" y="1162586"/>
                  </a:cubicBezTo>
                  <a:lnTo>
                    <a:pt x="25349" y="1162586"/>
                  </a:lnTo>
                  <a:cubicBezTo>
                    <a:pt x="18626" y="1162586"/>
                    <a:pt x="12179" y="1159915"/>
                    <a:pt x="7425" y="1155161"/>
                  </a:cubicBezTo>
                  <a:cubicBezTo>
                    <a:pt x="2671" y="1150407"/>
                    <a:pt x="0" y="1143959"/>
                    <a:pt x="0" y="1137236"/>
                  </a:cubicBezTo>
                  <a:lnTo>
                    <a:pt x="0" y="25349"/>
                  </a:lnTo>
                  <a:cubicBezTo>
                    <a:pt x="0" y="18626"/>
                    <a:pt x="2671" y="12179"/>
                    <a:pt x="7425" y="7425"/>
                  </a:cubicBezTo>
                  <a:cubicBezTo>
                    <a:pt x="12179" y="2671"/>
                    <a:pt x="18626" y="0"/>
                    <a:pt x="253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367428" cy="121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208962" y="3860143"/>
            <a:ext cx="5191954" cy="4414192"/>
            <a:chOff x="0" y="0"/>
            <a:chExt cx="1367428" cy="116258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67428" cy="1162586"/>
            </a:xfrm>
            <a:custGeom>
              <a:avLst/>
              <a:gdLst/>
              <a:ahLst/>
              <a:cxnLst/>
              <a:rect l="l" t="t" r="r" b="b"/>
              <a:pathLst>
                <a:path w="1367428" h="1162586">
                  <a:moveTo>
                    <a:pt x="25349" y="0"/>
                  </a:moveTo>
                  <a:lnTo>
                    <a:pt x="1342079" y="0"/>
                  </a:lnTo>
                  <a:cubicBezTo>
                    <a:pt x="1348802" y="0"/>
                    <a:pt x="1355250" y="2671"/>
                    <a:pt x="1360004" y="7425"/>
                  </a:cubicBezTo>
                  <a:cubicBezTo>
                    <a:pt x="1364757" y="12179"/>
                    <a:pt x="1367428" y="18626"/>
                    <a:pt x="1367428" y="25349"/>
                  </a:cubicBezTo>
                  <a:lnTo>
                    <a:pt x="1367428" y="1137236"/>
                  </a:lnTo>
                  <a:cubicBezTo>
                    <a:pt x="1367428" y="1151236"/>
                    <a:pt x="1356079" y="1162586"/>
                    <a:pt x="1342079" y="1162586"/>
                  </a:cubicBezTo>
                  <a:lnTo>
                    <a:pt x="25349" y="1162586"/>
                  </a:lnTo>
                  <a:cubicBezTo>
                    <a:pt x="18626" y="1162586"/>
                    <a:pt x="12179" y="1159915"/>
                    <a:pt x="7425" y="1155161"/>
                  </a:cubicBezTo>
                  <a:cubicBezTo>
                    <a:pt x="2671" y="1150407"/>
                    <a:pt x="0" y="1143959"/>
                    <a:pt x="0" y="1137236"/>
                  </a:cubicBezTo>
                  <a:lnTo>
                    <a:pt x="0" y="25349"/>
                  </a:lnTo>
                  <a:cubicBezTo>
                    <a:pt x="0" y="18626"/>
                    <a:pt x="2671" y="12179"/>
                    <a:pt x="7425" y="7425"/>
                  </a:cubicBezTo>
                  <a:cubicBezTo>
                    <a:pt x="12179" y="2671"/>
                    <a:pt x="18626" y="0"/>
                    <a:pt x="253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367428" cy="121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79847" y="6387003"/>
            <a:ext cx="5196474" cy="112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Tạo hiệu ứng trôi nổi (Floating) cho thức ăn.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68586" y="5340841"/>
            <a:ext cx="4755349" cy="2252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Dùng Vector2Int và Dot Product để kiểm tra hướng đi hợp lệ (tránh quay đầu 180 độ)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399462" y="5340841"/>
            <a:ext cx="4859838" cy="1690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Dùng lerp và SmoothDamp để làm mượt chuyển động Camera và UI.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91604" y="4376813"/>
            <a:ext cx="5191954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Hàm lượng giác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68586" y="4376813"/>
            <a:ext cx="4755349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Vector Math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800061" y="4376813"/>
            <a:ext cx="4459239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Interpolation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068838" y="5426566"/>
            <a:ext cx="4827533" cy="762462"/>
            <a:chOff x="0" y="0"/>
            <a:chExt cx="1271449" cy="20081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71449" cy="200813"/>
            </a:xfrm>
            <a:custGeom>
              <a:avLst/>
              <a:gdLst/>
              <a:ahLst/>
              <a:cxnLst/>
              <a:rect l="l" t="t" r="r" b="b"/>
              <a:pathLst>
                <a:path w="1271449" h="200813">
                  <a:moveTo>
                    <a:pt x="27263" y="0"/>
                  </a:moveTo>
                  <a:lnTo>
                    <a:pt x="1244186" y="0"/>
                  </a:lnTo>
                  <a:cubicBezTo>
                    <a:pt x="1251417" y="0"/>
                    <a:pt x="1258351" y="2872"/>
                    <a:pt x="1263464" y="7985"/>
                  </a:cubicBezTo>
                  <a:cubicBezTo>
                    <a:pt x="1268577" y="13098"/>
                    <a:pt x="1271449" y="20032"/>
                    <a:pt x="1271449" y="27263"/>
                  </a:cubicBezTo>
                  <a:lnTo>
                    <a:pt x="1271449" y="173550"/>
                  </a:lnTo>
                  <a:cubicBezTo>
                    <a:pt x="1271449" y="188607"/>
                    <a:pt x="1259243" y="200813"/>
                    <a:pt x="1244186" y="200813"/>
                  </a:cubicBezTo>
                  <a:lnTo>
                    <a:pt x="27263" y="200813"/>
                  </a:lnTo>
                  <a:cubicBezTo>
                    <a:pt x="20032" y="200813"/>
                    <a:pt x="13098" y="197941"/>
                    <a:pt x="7985" y="192828"/>
                  </a:cubicBezTo>
                  <a:cubicBezTo>
                    <a:pt x="2872" y="187715"/>
                    <a:pt x="0" y="180781"/>
                    <a:pt x="0" y="173550"/>
                  </a:cubicBezTo>
                  <a:lnTo>
                    <a:pt x="0" y="27263"/>
                  </a:lnTo>
                  <a:cubicBezTo>
                    <a:pt x="0" y="20032"/>
                    <a:pt x="2872" y="13098"/>
                    <a:pt x="7985" y="7985"/>
                  </a:cubicBezTo>
                  <a:cubicBezTo>
                    <a:pt x="13098" y="2872"/>
                    <a:pt x="20032" y="0"/>
                    <a:pt x="27263" y="0"/>
                  </a:cubicBezTo>
                  <a:close/>
                </a:path>
              </a:pathLst>
            </a:custGeom>
            <a:solidFill>
              <a:srgbClr val="274857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271449" cy="2484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772868" y="5280198"/>
            <a:ext cx="3419472" cy="1192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y = y0 + A * sin(ω * t)</a:t>
            </a:r>
          </a:p>
          <a:p>
            <a:pPr algn="ctr">
              <a:lnSpc>
                <a:spcPts val="4800"/>
              </a:lnSpc>
            </a:pPr>
            <a:endParaRPr lang="en-US" sz="32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2709"/>
            <a:ext cx="18288000" cy="1643584"/>
            <a:chOff x="0" y="0"/>
            <a:chExt cx="4816593" cy="4328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32878"/>
            </a:xfrm>
            <a:custGeom>
              <a:avLst/>
              <a:gdLst/>
              <a:ahLst/>
              <a:cxnLst/>
              <a:rect l="l" t="t" r="r" b="b"/>
              <a:pathLst>
                <a:path w="4816592" h="432878">
                  <a:moveTo>
                    <a:pt x="0" y="0"/>
                  </a:moveTo>
                  <a:lnTo>
                    <a:pt x="4816592" y="0"/>
                  </a:lnTo>
                  <a:lnTo>
                    <a:pt x="4816592" y="432878"/>
                  </a:lnTo>
                  <a:lnTo>
                    <a:pt x="0" y="432878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49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32709"/>
            <a:ext cx="1678186" cy="1643584"/>
          </a:xfrm>
          <a:custGeom>
            <a:avLst/>
            <a:gdLst/>
            <a:ahLst/>
            <a:cxnLst/>
            <a:rect l="l" t="t" r="r" b="b"/>
            <a:pathLst>
              <a:path w="1678186" h="1643584">
                <a:moveTo>
                  <a:pt x="0" y="0"/>
                </a:moveTo>
                <a:lnTo>
                  <a:pt x="1678186" y="0"/>
                </a:lnTo>
                <a:lnTo>
                  <a:pt x="1678186" y="1643584"/>
                </a:lnTo>
                <a:lnTo>
                  <a:pt x="0" y="1643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558429" y="2835308"/>
            <a:ext cx="7700871" cy="6074062"/>
          </a:xfrm>
          <a:custGeom>
            <a:avLst/>
            <a:gdLst/>
            <a:ahLst/>
            <a:cxnLst/>
            <a:rect l="l" t="t" r="r" b="b"/>
            <a:pathLst>
              <a:path w="7700871" h="6074062">
                <a:moveTo>
                  <a:pt x="0" y="0"/>
                </a:moveTo>
                <a:lnTo>
                  <a:pt x="7700871" y="0"/>
                </a:lnTo>
                <a:lnTo>
                  <a:pt x="7700871" y="6074061"/>
                </a:lnTo>
                <a:lnTo>
                  <a:pt x="0" y="60740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0" y="-206280"/>
            <a:ext cx="18288000" cy="175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22"/>
              </a:lnSpc>
              <a:spcBef>
                <a:spcPct val="0"/>
              </a:spcBef>
            </a:pPr>
            <a:r>
              <a:rPr lang="en-US" sz="1001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Thiết kế hệ thống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39093" y="2636552"/>
            <a:ext cx="8295341" cy="6621748"/>
            <a:chOff x="0" y="0"/>
            <a:chExt cx="2184781" cy="174399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84781" cy="1743999"/>
            </a:xfrm>
            <a:custGeom>
              <a:avLst/>
              <a:gdLst/>
              <a:ahLst/>
              <a:cxnLst/>
              <a:rect l="l" t="t" r="r" b="b"/>
              <a:pathLst>
                <a:path w="2184781" h="1743999">
                  <a:moveTo>
                    <a:pt x="15866" y="0"/>
                  </a:moveTo>
                  <a:lnTo>
                    <a:pt x="2168915" y="0"/>
                  </a:lnTo>
                  <a:cubicBezTo>
                    <a:pt x="2173123" y="0"/>
                    <a:pt x="2177159" y="1672"/>
                    <a:pt x="2180134" y="4647"/>
                  </a:cubicBezTo>
                  <a:cubicBezTo>
                    <a:pt x="2183110" y="7622"/>
                    <a:pt x="2184781" y="11658"/>
                    <a:pt x="2184781" y="15866"/>
                  </a:cubicBezTo>
                  <a:lnTo>
                    <a:pt x="2184781" y="1728133"/>
                  </a:lnTo>
                  <a:cubicBezTo>
                    <a:pt x="2184781" y="1732341"/>
                    <a:pt x="2183110" y="1736377"/>
                    <a:pt x="2180134" y="1739352"/>
                  </a:cubicBezTo>
                  <a:cubicBezTo>
                    <a:pt x="2177159" y="1742328"/>
                    <a:pt x="2173123" y="1743999"/>
                    <a:pt x="2168915" y="1743999"/>
                  </a:cubicBezTo>
                  <a:lnTo>
                    <a:pt x="15866" y="1743999"/>
                  </a:lnTo>
                  <a:cubicBezTo>
                    <a:pt x="11658" y="1743999"/>
                    <a:pt x="7622" y="1742328"/>
                    <a:pt x="4647" y="1739352"/>
                  </a:cubicBezTo>
                  <a:cubicBezTo>
                    <a:pt x="1672" y="1736377"/>
                    <a:pt x="0" y="1732341"/>
                    <a:pt x="0" y="1728133"/>
                  </a:cubicBezTo>
                  <a:lnTo>
                    <a:pt x="0" y="15866"/>
                  </a:lnTo>
                  <a:cubicBezTo>
                    <a:pt x="0" y="11658"/>
                    <a:pt x="1672" y="7622"/>
                    <a:pt x="4647" y="4647"/>
                  </a:cubicBezTo>
                  <a:cubicBezTo>
                    <a:pt x="7622" y="1672"/>
                    <a:pt x="11658" y="0"/>
                    <a:pt x="1586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78AF57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184781" cy="17916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2701718"/>
            <a:ext cx="7906961" cy="4785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Kiến trúc phân tầng</a:t>
            </a:r>
          </a:p>
          <a:p>
            <a:pPr algn="just">
              <a:lnSpc>
                <a:spcPts val="5599"/>
              </a:lnSpc>
            </a:pPr>
            <a:endParaRPr lang="en-US" sz="39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 b="1">
                <a:solidFill>
                  <a:srgbClr val="78AF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Managers: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GameManager, GridManager (Singleton).</a:t>
            </a: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 b="1">
                <a:solidFill>
                  <a:srgbClr val="87B0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Entities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SnakeController, AIController.</a:t>
            </a: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 b="1">
                <a:solidFill>
                  <a:srgbClr val="78AF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Data: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LocalizationManager, ColorPalette.</a:t>
            </a:r>
          </a:p>
          <a:p>
            <a:pPr algn="just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Tuân thủ nguyên tắt SOILID và Clean Code.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2709"/>
            <a:ext cx="18288000" cy="1643584"/>
            <a:chOff x="0" y="0"/>
            <a:chExt cx="4816593" cy="4328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32878"/>
            </a:xfrm>
            <a:custGeom>
              <a:avLst/>
              <a:gdLst/>
              <a:ahLst/>
              <a:cxnLst/>
              <a:rect l="l" t="t" r="r" b="b"/>
              <a:pathLst>
                <a:path w="4816592" h="432878">
                  <a:moveTo>
                    <a:pt x="0" y="0"/>
                  </a:moveTo>
                  <a:lnTo>
                    <a:pt x="4816592" y="0"/>
                  </a:lnTo>
                  <a:lnTo>
                    <a:pt x="4816592" y="432878"/>
                  </a:lnTo>
                  <a:lnTo>
                    <a:pt x="0" y="432878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49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32709"/>
            <a:ext cx="1678186" cy="1643584"/>
          </a:xfrm>
          <a:custGeom>
            <a:avLst/>
            <a:gdLst/>
            <a:ahLst/>
            <a:cxnLst/>
            <a:rect l="l" t="t" r="r" b="b"/>
            <a:pathLst>
              <a:path w="1678186" h="1643584">
                <a:moveTo>
                  <a:pt x="0" y="0"/>
                </a:moveTo>
                <a:lnTo>
                  <a:pt x="1678186" y="0"/>
                </a:lnTo>
                <a:lnTo>
                  <a:pt x="1678186" y="1643584"/>
                </a:lnTo>
                <a:lnTo>
                  <a:pt x="0" y="1643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-206280"/>
            <a:ext cx="18288000" cy="175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22"/>
              </a:lnSpc>
              <a:spcBef>
                <a:spcPct val="0"/>
              </a:spcBef>
            </a:pPr>
            <a:r>
              <a:rPr lang="en-US" sz="1001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- Chiến thuật kép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17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3476005"/>
            <a:ext cx="7710119" cy="4370451"/>
            <a:chOff x="0" y="0"/>
            <a:chExt cx="2030649" cy="115106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30649" cy="1151065"/>
            </a:xfrm>
            <a:custGeom>
              <a:avLst/>
              <a:gdLst/>
              <a:ahLst/>
              <a:cxnLst/>
              <a:rect l="l" t="t" r="r" b="b"/>
              <a:pathLst>
                <a:path w="2030649" h="1151065">
                  <a:moveTo>
                    <a:pt x="17070" y="0"/>
                  </a:moveTo>
                  <a:lnTo>
                    <a:pt x="2013579" y="0"/>
                  </a:lnTo>
                  <a:cubicBezTo>
                    <a:pt x="2023006" y="0"/>
                    <a:pt x="2030649" y="7643"/>
                    <a:pt x="2030649" y="17070"/>
                  </a:cubicBezTo>
                  <a:lnTo>
                    <a:pt x="2030649" y="1133995"/>
                  </a:lnTo>
                  <a:cubicBezTo>
                    <a:pt x="2030649" y="1143423"/>
                    <a:pt x="2023006" y="1151065"/>
                    <a:pt x="2013579" y="1151065"/>
                  </a:cubicBezTo>
                  <a:lnTo>
                    <a:pt x="17070" y="1151065"/>
                  </a:lnTo>
                  <a:cubicBezTo>
                    <a:pt x="7643" y="1151065"/>
                    <a:pt x="0" y="1143423"/>
                    <a:pt x="0" y="1133995"/>
                  </a:cubicBezTo>
                  <a:lnTo>
                    <a:pt x="0" y="17070"/>
                  </a:lnTo>
                  <a:cubicBezTo>
                    <a:pt x="0" y="7643"/>
                    <a:pt x="7643" y="0"/>
                    <a:pt x="1707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030649" cy="11986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`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482026" y="3476005"/>
            <a:ext cx="7777274" cy="4370451"/>
            <a:chOff x="0" y="0"/>
            <a:chExt cx="2048336" cy="11510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48336" cy="1151065"/>
            </a:xfrm>
            <a:custGeom>
              <a:avLst/>
              <a:gdLst/>
              <a:ahLst/>
              <a:cxnLst/>
              <a:rect l="l" t="t" r="r" b="b"/>
              <a:pathLst>
                <a:path w="2048336" h="1151065">
                  <a:moveTo>
                    <a:pt x="16923" y="0"/>
                  </a:moveTo>
                  <a:lnTo>
                    <a:pt x="2031413" y="0"/>
                  </a:lnTo>
                  <a:cubicBezTo>
                    <a:pt x="2035901" y="0"/>
                    <a:pt x="2040206" y="1783"/>
                    <a:pt x="2043379" y="4957"/>
                  </a:cubicBezTo>
                  <a:cubicBezTo>
                    <a:pt x="2046553" y="8130"/>
                    <a:pt x="2048336" y="12435"/>
                    <a:pt x="2048336" y="16923"/>
                  </a:cubicBezTo>
                  <a:lnTo>
                    <a:pt x="2048336" y="1134143"/>
                  </a:lnTo>
                  <a:cubicBezTo>
                    <a:pt x="2048336" y="1138631"/>
                    <a:pt x="2046553" y="1142935"/>
                    <a:pt x="2043379" y="1146109"/>
                  </a:cubicBezTo>
                  <a:cubicBezTo>
                    <a:pt x="2040206" y="1149282"/>
                    <a:pt x="2035901" y="1151065"/>
                    <a:pt x="2031413" y="1151065"/>
                  </a:cubicBezTo>
                  <a:lnTo>
                    <a:pt x="16923" y="1151065"/>
                  </a:lnTo>
                  <a:cubicBezTo>
                    <a:pt x="12435" y="1151065"/>
                    <a:pt x="8130" y="1149282"/>
                    <a:pt x="4957" y="1146109"/>
                  </a:cubicBezTo>
                  <a:cubicBezTo>
                    <a:pt x="1783" y="1142935"/>
                    <a:pt x="0" y="1138631"/>
                    <a:pt x="0" y="1134143"/>
                  </a:cubicBezTo>
                  <a:lnTo>
                    <a:pt x="0" y="16923"/>
                  </a:lnTo>
                  <a:cubicBezTo>
                    <a:pt x="0" y="12435"/>
                    <a:pt x="1783" y="8130"/>
                    <a:pt x="4957" y="4957"/>
                  </a:cubicBezTo>
                  <a:cubicBezTo>
                    <a:pt x="8130" y="1783"/>
                    <a:pt x="12435" y="0"/>
                    <a:pt x="1692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2048336" cy="11986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`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678186" y="3673736"/>
            <a:ext cx="6508835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78AF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Săn mồi (Huting)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16245" y="3673736"/>
            <a:ext cx="6508835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78AF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Sinh Tồn (Suvival)</a:t>
            </a:r>
          </a:p>
        </p:txBody>
      </p:sp>
      <p:sp>
        <p:nvSpPr>
          <p:cNvPr id="16" name="AutoShape 16"/>
          <p:cNvSpPr/>
          <p:nvPr/>
        </p:nvSpPr>
        <p:spPr>
          <a:xfrm>
            <a:off x="1637640" y="6361590"/>
            <a:ext cx="649224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10132841" y="6380640"/>
            <a:ext cx="649224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2265678" y="5127994"/>
            <a:ext cx="5333851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Dùng</a:t>
            </a: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BFS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tìm đường ngắn nhất.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73934" y="5127994"/>
            <a:ext cx="5993457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Dùng </a:t>
            </a: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Flood Fill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tìm vùng rộng nhất.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50647" y="6692911"/>
            <a:ext cx="4163913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Tốc độ cao, tối ưu điểm số.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472830" y="6692911"/>
            <a:ext cx="579566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Kéo dài thơi gian sống khi bị bao vây.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2709"/>
            <a:ext cx="18288000" cy="1643584"/>
            <a:chOff x="0" y="0"/>
            <a:chExt cx="4816593" cy="4328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32878"/>
            </a:xfrm>
            <a:custGeom>
              <a:avLst/>
              <a:gdLst/>
              <a:ahLst/>
              <a:cxnLst/>
              <a:rect l="l" t="t" r="r" b="b"/>
              <a:pathLst>
                <a:path w="4816592" h="432878">
                  <a:moveTo>
                    <a:pt x="0" y="0"/>
                  </a:moveTo>
                  <a:lnTo>
                    <a:pt x="4816592" y="0"/>
                  </a:lnTo>
                  <a:lnTo>
                    <a:pt x="4816592" y="432878"/>
                  </a:lnTo>
                  <a:lnTo>
                    <a:pt x="0" y="432878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49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32709"/>
            <a:ext cx="1678186" cy="1643584"/>
          </a:xfrm>
          <a:custGeom>
            <a:avLst/>
            <a:gdLst/>
            <a:ahLst/>
            <a:cxnLst/>
            <a:rect l="l" t="t" r="r" b="b"/>
            <a:pathLst>
              <a:path w="1678186" h="1643584">
                <a:moveTo>
                  <a:pt x="0" y="0"/>
                </a:moveTo>
                <a:lnTo>
                  <a:pt x="1678186" y="0"/>
                </a:lnTo>
                <a:lnTo>
                  <a:pt x="1678186" y="1643584"/>
                </a:lnTo>
                <a:lnTo>
                  <a:pt x="0" y="1643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-206280"/>
            <a:ext cx="18288000" cy="175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22"/>
              </a:lnSpc>
              <a:spcBef>
                <a:spcPct val="0"/>
              </a:spcBef>
            </a:pPr>
            <a:r>
              <a:rPr lang="en-US" sz="1001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Hệ thống đa ngôn ngữ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18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3138355"/>
            <a:ext cx="7710119" cy="4708102"/>
            <a:chOff x="0" y="0"/>
            <a:chExt cx="2030649" cy="123999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30649" cy="1239994"/>
            </a:xfrm>
            <a:custGeom>
              <a:avLst/>
              <a:gdLst/>
              <a:ahLst/>
              <a:cxnLst/>
              <a:rect l="l" t="t" r="r" b="b"/>
              <a:pathLst>
                <a:path w="2030649" h="1239994">
                  <a:moveTo>
                    <a:pt x="17070" y="0"/>
                  </a:moveTo>
                  <a:lnTo>
                    <a:pt x="2013579" y="0"/>
                  </a:lnTo>
                  <a:cubicBezTo>
                    <a:pt x="2023006" y="0"/>
                    <a:pt x="2030649" y="7643"/>
                    <a:pt x="2030649" y="17070"/>
                  </a:cubicBezTo>
                  <a:lnTo>
                    <a:pt x="2030649" y="1222924"/>
                  </a:lnTo>
                  <a:cubicBezTo>
                    <a:pt x="2030649" y="1232351"/>
                    <a:pt x="2023006" y="1239994"/>
                    <a:pt x="2013579" y="1239994"/>
                  </a:cubicBezTo>
                  <a:lnTo>
                    <a:pt x="17070" y="1239994"/>
                  </a:lnTo>
                  <a:cubicBezTo>
                    <a:pt x="7643" y="1239994"/>
                    <a:pt x="0" y="1232351"/>
                    <a:pt x="0" y="1222924"/>
                  </a:cubicBezTo>
                  <a:lnTo>
                    <a:pt x="0" y="17070"/>
                  </a:lnTo>
                  <a:cubicBezTo>
                    <a:pt x="0" y="7643"/>
                    <a:pt x="7643" y="0"/>
                    <a:pt x="1707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030649" cy="12876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`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482026" y="3476005"/>
            <a:ext cx="7777274" cy="4370451"/>
            <a:chOff x="0" y="0"/>
            <a:chExt cx="2048336" cy="11510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48336" cy="1151065"/>
            </a:xfrm>
            <a:custGeom>
              <a:avLst/>
              <a:gdLst/>
              <a:ahLst/>
              <a:cxnLst/>
              <a:rect l="l" t="t" r="r" b="b"/>
              <a:pathLst>
                <a:path w="2048336" h="1151065">
                  <a:moveTo>
                    <a:pt x="16923" y="0"/>
                  </a:moveTo>
                  <a:lnTo>
                    <a:pt x="2031413" y="0"/>
                  </a:lnTo>
                  <a:cubicBezTo>
                    <a:pt x="2035901" y="0"/>
                    <a:pt x="2040206" y="1783"/>
                    <a:pt x="2043379" y="4957"/>
                  </a:cubicBezTo>
                  <a:cubicBezTo>
                    <a:pt x="2046553" y="8130"/>
                    <a:pt x="2048336" y="12435"/>
                    <a:pt x="2048336" y="16923"/>
                  </a:cubicBezTo>
                  <a:lnTo>
                    <a:pt x="2048336" y="1134143"/>
                  </a:lnTo>
                  <a:cubicBezTo>
                    <a:pt x="2048336" y="1138631"/>
                    <a:pt x="2046553" y="1142935"/>
                    <a:pt x="2043379" y="1146109"/>
                  </a:cubicBezTo>
                  <a:cubicBezTo>
                    <a:pt x="2040206" y="1149282"/>
                    <a:pt x="2035901" y="1151065"/>
                    <a:pt x="2031413" y="1151065"/>
                  </a:cubicBezTo>
                  <a:lnTo>
                    <a:pt x="16923" y="1151065"/>
                  </a:lnTo>
                  <a:cubicBezTo>
                    <a:pt x="12435" y="1151065"/>
                    <a:pt x="8130" y="1149282"/>
                    <a:pt x="4957" y="1146109"/>
                  </a:cubicBezTo>
                  <a:cubicBezTo>
                    <a:pt x="1783" y="1142935"/>
                    <a:pt x="0" y="1138631"/>
                    <a:pt x="0" y="1134143"/>
                  </a:cubicBezTo>
                  <a:lnTo>
                    <a:pt x="0" y="16923"/>
                  </a:lnTo>
                  <a:cubicBezTo>
                    <a:pt x="0" y="12435"/>
                    <a:pt x="1783" y="8130"/>
                    <a:pt x="4957" y="4957"/>
                  </a:cubicBezTo>
                  <a:cubicBezTo>
                    <a:pt x="8130" y="1783"/>
                    <a:pt x="12435" y="0"/>
                    <a:pt x="1692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2048336" cy="11986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`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435470" y="3647413"/>
            <a:ext cx="6896580" cy="3796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999"/>
              </a:lnSpc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Locallization Manager</a:t>
            </a:r>
          </a:p>
          <a:p>
            <a:pPr marL="690881" lvl="1" indent="-345440" algn="just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Hỗ trợ chuyển đổi tức thì: </a:t>
            </a:r>
            <a:r>
              <a:rPr lang="en-US" sz="3200">
                <a:solidFill>
                  <a:srgbClr val="78AF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Tiếng Việt / Tiếng Anh.</a:t>
            </a:r>
          </a:p>
          <a:p>
            <a:pPr marL="690881" lvl="1" indent="-345440" algn="just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 dụng Dictinary để map key-value.</a:t>
            </a:r>
          </a:p>
          <a:p>
            <a:pPr marL="690881" lvl="1" indent="-345440" algn="just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Tự động cập hật UI mà không cần tải lại Scene.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22373" y="3696223"/>
            <a:ext cx="6896580" cy="3187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999"/>
              </a:lnSpc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Persistence</a:t>
            </a:r>
          </a:p>
          <a:p>
            <a:pPr marL="690881" lvl="1" indent="-345440" algn="just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Lưu trữ JSON cho bảng xếp hạng (HighScrore).</a:t>
            </a:r>
          </a:p>
          <a:p>
            <a:pPr marL="690881" lvl="1" indent="-345440" algn="just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PlayerPrefs cho cài đặt (Volume, Language).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2709"/>
            <a:ext cx="18288000" cy="1643584"/>
            <a:chOff x="0" y="0"/>
            <a:chExt cx="4816593" cy="4328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32878"/>
            </a:xfrm>
            <a:custGeom>
              <a:avLst/>
              <a:gdLst/>
              <a:ahLst/>
              <a:cxnLst/>
              <a:rect l="l" t="t" r="r" b="b"/>
              <a:pathLst>
                <a:path w="4816592" h="432878">
                  <a:moveTo>
                    <a:pt x="0" y="0"/>
                  </a:moveTo>
                  <a:lnTo>
                    <a:pt x="4816592" y="0"/>
                  </a:lnTo>
                  <a:lnTo>
                    <a:pt x="4816592" y="432878"/>
                  </a:lnTo>
                  <a:lnTo>
                    <a:pt x="0" y="432878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49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32709"/>
            <a:ext cx="1678186" cy="1643584"/>
          </a:xfrm>
          <a:custGeom>
            <a:avLst/>
            <a:gdLst/>
            <a:ahLst/>
            <a:cxnLst/>
            <a:rect l="l" t="t" r="r" b="b"/>
            <a:pathLst>
              <a:path w="1678186" h="1643584">
                <a:moveTo>
                  <a:pt x="0" y="0"/>
                </a:moveTo>
                <a:lnTo>
                  <a:pt x="1678186" y="0"/>
                </a:lnTo>
                <a:lnTo>
                  <a:pt x="1678186" y="1643584"/>
                </a:lnTo>
                <a:lnTo>
                  <a:pt x="0" y="1643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-206280"/>
            <a:ext cx="18288000" cy="175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22"/>
              </a:lnSpc>
              <a:spcBef>
                <a:spcPct val="0"/>
              </a:spcBef>
            </a:pPr>
            <a:r>
              <a:rPr lang="en-US" sz="1001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Ứng dụng toán học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84367" y="3860143"/>
            <a:ext cx="5191954" cy="4414192"/>
            <a:chOff x="0" y="0"/>
            <a:chExt cx="1367428" cy="11625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67428" cy="1162586"/>
            </a:xfrm>
            <a:custGeom>
              <a:avLst/>
              <a:gdLst/>
              <a:ahLst/>
              <a:cxnLst/>
              <a:rect l="l" t="t" r="r" b="b"/>
              <a:pathLst>
                <a:path w="1367428" h="1162586">
                  <a:moveTo>
                    <a:pt x="25349" y="0"/>
                  </a:moveTo>
                  <a:lnTo>
                    <a:pt x="1342079" y="0"/>
                  </a:lnTo>
                  <a:cubicBezTo>
                    <a:pt x="1348802" y="0"/>
                    <a:pt x="1355250" y="2671"/>
                    <a:pt x="1360004" y="7425"/>
                  </a:cubicBezTo>
                  <a:cubicBezTo>
                    <a:pt x="1364757" y="12179"/>
                    <a:pt x="1367428" y="18626"/>
                    <a:pt x="1367428" y="25349"/>
                  </a:cubicBezTo>
                  <a:lnTo>
                    <a:pt x="1367428" y="1137236"/>
                  </a:lnTo>
                  <a:cubicBezTo>
                    <a:pt x="1367428" y="1151236"/>
                    <a:pt x="1356079" y="1162586"/>
                    <a:pt x="1342079" y="1162586"/>
                  </a:cubicBezTo>
                  <a:lnTo>
                    <a:pt x="25349" y="1162586"/>
                  </a:lnTo>
                  <a:cubicBezTo>
                    <a:pt x="18626" y="1162586"/>
                    <a:pt x="12179" y="1159915"/>
                    <a:pt x="7425" y="1155161"/>
                  </a:cubicBezTo>
                  <a:cubicBezTo>
                    <a:pt x="2671" y="1150407"/>
                    <a:pt x="0" y="1143959"/>
                    <a:pt x="0" y="1137236"/>
                  </a:cubicBezTo>
                  <a:lnTo>
                    <a:pt x="0" y="25349"/>
                  </a:lnTo>
                  <a:cubicBezTo>
                    <a:pt x="0" y="18626"/>
                    <a:pt x="2671" y="12179"/>
                    <a:pt x="7425" y="7425"/>
                  </a:cubicBezTo>
                  <a:cubicBezTo>
                    <a:pt x="12179" y="2671"/>
                    <a:pt x="18626" y="0"/>
                    <a:pt x="253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367428" cy="12197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390453" y="3860143"/>
            <a:ext cx="5664665" cy="4414192"/>
            <a:chOff x="0" y="0"/>
            <a:chExt cx="1491928" cy="11625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91928" cy="1162586"/>
            </a:xfrm>
            <a:custGeom>
              <a:avLst/>
              <a:gdLst/>
              <a:ahLst/>
              <a:cxnLst/>
              <a:rect l="l" t="t" r="r" b="b"/>
              <a:pathLst>
                <a:path w="1491928" h="1162586">
                  <a:moveTo>
                    <a:pt x="23234" y="0"/>
                  </a:moveTo>
                  <a:lnTo>
                    <a:pt x="1468694" y="0"/>
                  </a:lnTo>
                  <a:cubicBezTo>
                    <a:pt x="1474856" y="0"/>
                    <a:pt x="1480766" y="2448"/>
                    <a:pt x="1485123" y="6805"/>
                  </a:cubicBezTo>
                  <a:cubicBezTo>
                    <a:pt x="1489480" y="11162"/>
                    <a:pt x="1491928" y="17072"/>
                    <a:pt x="1491928" y="23234"/>
                  </a:cubicBezTo>
                  <a:lnTo>
                    <a:pt x="1491928" y="1139352"/>
                  </a:lnTo>
                  <a:cubicBezTo>
                    <a:pt x="1491928" y="1145514"/>
                    <a:pt x="1489480" y="1151423"/>
                    <a:pt x="1485123" y="1155781"/>
                  </a:cubicBezTo>
                  <a:cubicBezTo>
                    <a:pt x="1480766" y="1160138"/>
                    <a:pt x="1474856" y="1162586"/>
                    <a:pt x="1468694" y="1162586"/>
                  </a:cubicBezTo>
                  <a:lnTo>
                    <a:pt x="23234" y="1162586"/>
                  </a:lnTo>
                  <a:cubicBezTo>
                    <a:pt x="17072" y="1162586"/>
                    <a:pt x="11162" y="1160138"/>
                    <a:pt x="6805" y="1155781"/>
                  </a:cubicBezTo>
                  <a:cubicBezTo>
                    <a:pt x="2448" y="1151423"/>
                    <a:pt x="0" y="1145514"/>
                    <a:pt x="0" y="1139352"/>
                  </a:cubicBezTo>
                  <a:lnTo>
                    <a:pt x="0" y="23234"/>
                  </a:lnTo>
                  <a:cubicBezTo>
                    <a:pt x="0" y="17072"/>
                    <a:pt x="2448" y="11162"/>
                    <a:pt x="6805" y="6805"/>
                  </a:cubicBezTo>
                  <a:cubicBezTo>
                    <a:pt x="11162" y="2448"/>
                    <a:pt x="17072" y="0"/>
                    <a:pt x="2323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491928" cy="12197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357859" y="3860143"/>
            <a:ext cx="5191954" cy="4414192"/>
            <a:chOff x="0" y="0"/>
            <a:chExt cx="1367428" cy="116258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67428" cy="1162586"/>
            </a:xfrm>
            <a:custGeom>
              <a:avLst/>
              <a:gdLst/>
              <a:ahLst/>
              <a:cxnLst/>
              <a:rect l="l" t="t" r="r" b="b"/>
              <a:pathLst>
                <a:path w="1367428" h="1162586">
                  <a:moveTo>
                    <a:pt x="25349" y="0"/>
                  </a:moveTo>
                  <a:lnTo>
                    <a:pt x="1342079" y="0"/>
                  </a:lnTo>
                  <a:cubicBezTo>
                    <a:pt x="1348802" y="0"/>
                    <a:pt x="1355250" y="2671"/>
                    <a:pt x="1360004" y="7425"/>
                  </a:cubicBezTo>
                  <a:cubicBezTo>
                    <a:pt x="1364757" y="12179"/>
                    <a:pt x="1367428" y="18626"/>
                    <a:pt x="1367428" y="25349"/>
                  </a:cubicBezTo>
                  <a:lnTo>
                    <a:pt x="1367428" y="1137236"/>
                  </a:lnTo>
                  <a:cubicBezTo>
                    <a:pt x="1367428" y="1151236"/>
                    <a:pt x="1356079" y="1162586"/>
                    <a:pt x="1342079" y="1162586"/>
                  </a:cubicBezTo>
                  <a:lnTo>
                    <a:pt x="25349" y="1162586"/>
                  </a:lnTo>
                  <a:cubicBezTo>
                    <a:pt x="18626" y="1162586"/>
                    <a:pt x="12179" y="1159915"/>
                    <a:pt x="7425" y="1155161"/>
                  </a:cubicBezTo>
                  <a:cubicBezTo>
                    <a:pt x="2671" y="1150407"/>
                    <a:pt x="0" y="1143959"/>
                    <a:pt x="0" y="1137236"/>
                  </a:cubicBezTo>
                  <a:lnTo>
                    <a:pt x="0" y="25349"/>
                  </a:lnTo>
                  <a:cubicBezTo>
                    <a:pt x="0" y="18626"/>
                    <a:pt x="2671" y="12179"/>
                    <a:pt x="7425" y="7425"/>
                  </a:cubicBezTo>
                  <a:cubicBezTo>
                    <a:pt x="12179" y="2671"/>
                    <a:pt x="18626" y="0"/>
                    <a:pt x="253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367428" cy="12197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316285" y="4181573"/>
            <a:ext cx="2328118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Neon Style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84758" y="4181573"/>
            <a:ext cx="5664665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ProceduralAnimation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126301" y="4181573"/>
            <a:ext cx="3655070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Input Bruffering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5460179"/>
            <a:ext cx="4912561" cy="112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Hiệu ứng Glow, Outline, Pulse tạo cảm giác hiện đại.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60809" y="5460179"/>
            <a:ext cx="4912561" cy="1690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Dùng toán học tạo chuyển động thức ăn vì Animation Cllip nặng nề.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502792" y="5460179"/>
            <a:ext cx="4912561" cy="112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Ngăn chặn lỗi “nuốt phím” khi thao tác nhanh.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64"/>
            <a:ext cx="18288000" cy="1643584"/>
            <a:chOff x="0" y="0"/>
            <a:chExt cx="4816593" cy="4328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32878"/>
            </a:xfrm>
            <a:custGeom>
              <a:avLst/>
              <a:gdLst/>
              <a:ahLst/>
              <a:cxnLst/>
              <a:rect l="l" t="t" r="r" b="b"/>
              <a:pathLst>
                <a:path w="4816592" h="432878">
                  <a:moveTo>
                    <a:pt x="0" y="0"/>
                  </a:moveTo>
                  <a:lnTo>
                    <a:pt x="4816592" y="0"/>
                  </a:lnTo>
                  <a:lnTo>
                    <a:pt x="4816592" y="432878"/>
                  </a:lnTo>
                  <a:lnTo>
                    <a:pt x="0" y="432878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49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864"/>
            <a:ext cx="1678186" cy="1643584"/>
          </a:xfrm>
          <a:custGeom>
            <a:avLst/>
            <a:gdLst/>
            <a:ahLst/>
            <a:cxnLst/>
            <a:rect l="l" t="t" r="r" b="b"/>
            <a:pathLst>
              <a:path w="1678186" h="1643584">
                <a:moveTo>
                  <a:pt x="0" y="0"/>
                </a:moveTo>
                <a:lnTo>
                  <a:pt x="1678186" y="0"/>
                </a:lnTo>
                <a:lnTo>
                  <a:pt x="1678186" y="1643584"/>
                </a:lnTo>
                <a:lnTo>
                  <a:pt x="0" y="1643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862015" y="3393354"/>
            <a:ext cx="7397285" cy="4151726"/>
          </a:xfrm>
          <a:custGeom>
            <a:avLst/>
            <a:gdLst/>
            <a:ahLst/>
            <a:cxnLst/>
            <a:rect l="l" t="t" r="r" b="b"/>
            <a:pathLst>
              <a:path w="7397285" h="4151726">
                <a:moveTo>
                  <a:pt x="0" y="0"/>
                </a:moveTo>
                <a:lnTo>
                  <a:pt x="7397285" y="0"/>
                </a:lnTo>
                <a:lnTo>
                  <a:pt x="7397285" y="4151726"/>
                </a:lnTo>
                <a:lnTo>
                  <a:pt x="0" y="41517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0" y="-238125"/>
            <a:ext cx="18288000" cy="175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22"/>
              </a:lnSpc>
              <a:spcBef>
                <a:spcPct val="0"/>
              </a:spcBef>
            </a:pPr>
            <a:r>
              <a:rPr lang="en-US" sz="1001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Kết quả hiện thực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59300" y="9178830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20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2800267"/>
            <a:ext cx="8581173" cy="5337900"/>
            <a:chOff x="0" y="0"/>
            <a:chExt cx="2260062" cy="140586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60062" cy="1405867"/>
            </a:xfrm>
            <a:custGeom>
              <a:avLst/>
              <a:gdLst/>
              <a:ahLst/>
              <a:cxnLst/>
              <a:rect l="l" t="t" r="r" b="b"/>
              <a:pathLst>
                <a:path w="2260062" h="1405867">
                  <a:moveTo>
                    <a:pt x="15337" y="0"/>
                  </a:moveTo>
                  <a:lnTo>
                    <a:pt x="2244725" y="0"/>
                  </a:lnTo>
                  <a:cubicBezTo>
                    <a:pt x="2253195" y="0"/>
                    <a:pt x="2260062" y="6867"/>
                    <a:pt x="2260062" y="15337"/>
                  </a:cubicBezTo>
                  <a:lnTo>
                    <a:pt x="2260062" y="1390529"/>
                  </a:lnTo>
                  <a:cubicBezTo>
                    <a:pt x="2260062" y="1399000"/>
                    <a:pt x="2253195" y="1405867"/>
                    <a:pt x="2244725" y="1405867"/>
                  </a:cubicBezTo>
                  <a:lnTo>
                    <a:pt x="15337" y="1405867"/>
                  </a:lnTo>
                  <a:cubicBezTo>
                    <a:pt x="11270" y="1405867"/>
                    <a:pt x="7369" y="1404251"/>
                    <a:pt x="4492" y="1401374"/>
                  </a:cubicBezTo>
                  <a:cubicBezTo>
                    <a:pt x="1616" y="1398498"/>
                    <a:pt x="0" y="1394597"/>
                    <a:pt x="0" y="1390529"/>
                  </a:cubicBezTo>
                  <a:lnTo>
                    <a:pt x="0" y="15337"/>
                  </a:lnTo>
                  <a:cubicBezTo>
                    <a:pt x="0" y="6867"/>
                    <a:pt x="6867" y="0"/>
                    <a:pt x="1533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78AF57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260062" cy="14630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42209" y="3025997"/>
            <a:ext cx="8154155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Sản phẩm hoàn thiện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2209" y="4237300"/>
            <a:ext cx="8154155" cy="2992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345" lvl="1" indent="-345172" algn="just">
              <a:lnSpc>
                <a:spcPts val="4796"/>
              </a:lnSpc>
              <a:buFont typeface="Arial"/>
              <a:buChar char="•"/>
            </a:pPr>
            <a:r>
              <a:rPr lang="en-US" sz="319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Game PC ổn định.</a:t>
            </a:r>
          </a:p>
          <a:p>
            <a:pPr marL="690345" lvl="1" indent="-345172" algn="just">
              <a:lnSpc>
                <a:spcPts val="4796"/>
              </a:lnSpc>
              <a:buFont typeface="Arial"/>
              <a:buChar char="•"/>
            </a:pPr>
            <a:r>
              <a:rPr lang="en-US" sz="319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chế độ chơi: Chơi đơn và Chơi với máy (PvE).</a:t>
            </a:r>
          </a:p>
          <a:p>
            <a:pPr marL="690345" lvl="1" indent="-345172" algn="just">
              <a:lnSpc>
                <a:spcPts val="4796"/>
              </a:lnSpc>
              <a:buFont typeface="Arial"/>
              <a:buChar char="•"/>
            </a:pPr>
            <a:r>
              <a:rPr lang="en-US" sz="319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Hệ thống Combo &amp; bảng xếp hạng.</a:t>
            </a:r>
          </a:p>
          <a:p>
            <a:pPr marL="690345" lvl="1" indent="-345172" algn="just">
              <a:lnSpc>
                <a:spcPts val="4796"/>
              </a:lnSpc>
              <a:buFont typeface="Arial"/>
              <a:buChar char="•"/>
            </a:pPr>
            <a:r>
              <a:rPr lang="en-US" sz="319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UI/UX trực quan, hiện đại.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3584"/>
            <a:chOff x="0" y="0"/>
            <a:chExt cx="4816593" cy="4328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32878"/>
            </a:xfrm>
            <a:custGeom>
              <a:avLst/>
              <a:gdLst/>
              <a:ahLst/>
              <a:cxnLst/>
              <a:rect l="l" t="t" r="r" b="b"/>
              <a:pathLst>
                <a:path w="4816592" h="432878">
                  <a:moveTo>
                    <a:pt x="0" y="0"/>
                  </a:moveTo>
                  <a:lnTo>
                    <a:pt x="4816592" y="0"/>
                  </a:lnTo>
                  <a:lnTo>
                    <a:pt x="4816592" y="432878"/>
                  </a:lnTo>
                  <a:lnTo>
                    <a:pt x="0" y="432878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49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0"/>
            <a:ext cx="1678186" cy="1643584"/>
          </a:xfrm>
          <a:custGeom>
            <a:avLst/>
            <a:gdLst/>
            <a:ahLst/>
            <a:cxnLst/>
            <a:rect l="l" t="t" r="r" b="b"/>
            <a:pathLst>
              <a:path w="1678186" h="1643584">
                <a:moveTo>
                  <a:pt x="0" y="0"/>
                </a:moveTo>
                <a:lnTo>
                  <a:pt x="1678186" y="0"/>
                </a:lnTo>
                <a:lnTo>
                  <a:pt x="1678186" y="1643584"/>
                </a:lnTo>
                <a:lnTo>
                  <a:pt x="0" y="1643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28700" y="3086100"/>
          <a:ext cx="16230600" cy="5888157"/>
        </p:xfrm>
        <a:graphic>
          <a:graphicData uri="http://schemas.openxmlformats.org/drawingml/2006/table">
            <a:tbl>
              <a:tblPr/>
              <a:tblGrid>
                <a:gridCol w="3469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1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2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75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29796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2F7E26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Chức năng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2F7E26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Thao tác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2F7E26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Kết quả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2F7E26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Trạng thái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5878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 chuyển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Phím W, A, S, 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Đổi hướng đúng, không ngược chiều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4161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AI tìm đường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Chế độ PvE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Tự tìm mồi, tránh tường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4161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Lưu điểm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Tắt/mở game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Bảng xếp hạng vẫn giữ nguyên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4161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Đa ngôn ngữ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Chọn tiếng Anh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Text chuyển ngữ ngay lập tức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Freeform 7"/>
          <p:cNvSpPr/>
          <p:nvPr/>
        </p:nvSpPr>
        <p:spPr>
          <a:xfrm>
            <a:off x="15770770" y="8022792"/>
            <a:ext cx="1032354" cy="807817"/>
          </a:xfrm>
          <a:custGeom>
            <a:avLst/>
            <a:gdLst/>
            <a:ahLst/>
            <a:cxnLst/>
            <a:rect l="l" t="t" r="r" b="b"/>
            <a:pathLst>
              <a:path w="1032354" h="807817">
                <a:moveTo>
                  <a:pt x="0" y="0"/>
                </a:moveTo>
                <a:lnTo>
                  <a:pt x="1032355" y="0"/>
                </a:lnTo>
                <a:lnTo>
                  <a:pt x="1032355" y="807817"/>
                </a:lnTo>
                <a:lnTo>
                  <a:pt x="0" y="8078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0" y="-174956"/>
            <a:ext cx="18288000" cy="175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22"/>
              </a:lnSpc>
              <a:spcBef>
                <a:spcPct val="0"/>
              </a:spcBef>
            </a:pPr>
            <a:r>
              <a:rPr lang="en-US" sz="1001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Kịch bản kiểm thử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21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770770" y="7004670"/>
            <a:ext cx="1032354" cy="807817"/>
          </a:xfrm>
          <a:custGeom>
            <a:avLst/>
            <a:gdLst/>
            <a:ahLst/>
            <a:cxnLst/>
            <a:rect l="l" t="t" r="r" b="b"/>
            <a:pathLst>
              <a:path w="1032354" h="807817">
                <a:moveTo>
                  <a:pt x="0" y="0"/>
                </a:moveTo>
                <a:lnTo>
                  <a:pt x="1032355" y="0"/>
                </a:lnTo>
                <a:lnTo>
                  <a:pt x="1032355" y="807817"/>
                </a:lnTo>
                <a:lnTo>
                  <a:pt x="0" y="8078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770770" y="5987303"/>
            <a:ext cx="1032354" cy="807817"/>
          </a:xfrm>
          <a:custGeom>
            <a:avLst/>
            <a:gdLst/>
            <a:ahLst/>
            <a:cxnLst/>
            <a:rect l="l" t="t" r="r" b="b"/>
            <a:pathLst>
              <a:path w="1032354" h="807817">
                <a:moveTo>
                  <a:pt x="0" y="0"/>
                </a:moveTo>
                <a:lnTo>
                  <a:pt x="1032355" y="0"/>
                </a:lnTo>
                <a:lnTo>
                  <a:pt x="1032355" y="807817"/>
                </a:lnTo>
                <a:lnTo>
                  <a:pt x="0" y="8078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770770" y="4969936"/>
            <a:ext cx="1032354" cy="807817"/>
          </a:xfrm>
          <a:custGeom>
            <a:avLst/>
            <a:gdLst/>
            <a:ahLst/>
            <a:cxnLst/>
            <a:rect l="l" t="t" r="r" b="b"/>
            <a:pathLst>
              <a:path w="1032354" h="807817">
                <a:moveTo>
                  <a:pt x="0" y="0"/>
                </a:moveTo>
                <a:lnTo>
                  <a:pt x="1032355" y="0"/>
                </a:lnTo>
                <a:lnTo>
                  <a:pt x="1032355" y="807817"/>
                </a:lnTo>
                <a:lnTo>
                  <a:pt x="0" y="8078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2709"/>
            <a:ext cx="18288000" cy="1643584"/>
            <a:chOff x="0" y="0"/>
            <a:chExt cx="4816593" cy="4328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32878"/>
            </a:xfrm>
            <a:custGeom>
              <a:avLst/>
              <a:gdLst/>
              <a:ahLst/>
              <a:cxnLst/>
              <a:rect l="l" t="t" r="r" b="b"/>
              <a:pathLst>
                <a:path w="4816592" h="432878">
                  <a:moveTo>
                    <a:pt x="0" y="0"/>
                  </a:moveTo>
                  <a:lnTo>
                    <a:pt x="4816592" y="0"/>
                  </a:lnTo>
                  <a:lnTo>
                    <a:pt x="4816592" y="432878"/>
                  </a:lnTo>
                  <a:lnTo>
                    <a:pt x="0" y="432878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49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32709"/>
            <a:ext cx="1678186" cy="1643584"/>
          </a:xfrm>
          <a:custGeom>
            <a:avLst/>
            <a:gdLst/>
            <a:ahLst/>
            <a:cxnLst/>
            <a:rect l="l" t="t" r="r" b="b"/>
            <a:pathLst>
              <a:path w="1678186" h="1643584">
                <a:moveTo>
                  <a:pt x="0" y="0"/>
                </a:moveTo>
                <a:lnTo>
                  <a:pt x="1678186" y="0"/>
                </a:lnTo>
                <a:lnTo>
                  <a:pt x="1678186" y="1643584"/>
                </a:lnTo>
                <a:lnTo>
                  <a:pt x="0" y="1643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884367" y="3860143"/>
            <a:ext cx="5191954" cy="4414192"/>
            <a:chOff x="0" y="0"/>
            <a:chExt cx="1367428" cy="116258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67428" cy="1162586"/>
            </a:xfrm>
            <a:custGeom>
              <a:avLst/>
              <a:gdLst/>
              <a:ahLst/>
              <a:cxnLst/>
              <a:rect l="l" t="t" r="r" b="b"/>
              <a:pathLst>
                <a:path w="1367428" h="1162586">
                  <a:moveTo>
                    <a:pt x="25349" y="0"/>
                  </a:moveTo>
                  <a:lnTo>
                    <a:pt x="1342079" y="0"/>
                  </a:lnTo>
                  <a:cubicBezTo>
                    <a:pt x="1348802" y="0"/>
                    <a:pt x="1355250" y="2671"/>
                    <a:pt x="1360004" y="7425"/>
                  </a:cubicBezTo>
                  <a:cubicBezTo>
                    <a:pt x="1364757" y="12179"/>
                    <a:pt x="1367428" y="18626"/>
                    <a:pt x="1367428" y="25349"/>
                  </a:cubicBezTo>
                  <a:lnTo>
                    <a:pt x="1367428" y="1137236"/>
                  </a:lnTo>
                  <a:cubicBezTo>
                    <a:pt x="1367428" y="1151236"/>
                    <a:pt x="1356079" y="1162586"/>
                    <a:pt x="1342079" y="1162586"/>
                  </a:cubicBezTo>
                  <a:lnTo>
                    <a:pt x="25349" y="1162586"/>
                  </a:lnTo>
                  <a:cubicBezTo>
                    <a:pt x="18626" y="1162586"/>
                    <a:pt x="12179" y="1159915"/>
                    <a:pt x="7425" y="1155161"/>
                  </a:cubicBezTo>
                  <a:cubicBezTo>
                    <a:pt x="2671" y="1150407"/>
                    <a:pt x="0" y="1143959"/>
                    <a:pt x="0" y="1137236"/>
                  </a:cubicBezTo>
                  <a:lnTo>
                    <a:pt x="0" y="25349"/>
                  </a:lnTo>
                  <a:cubicBezTo>
                    <a:pt x="0" y="18626"/>
                    <a:pt x="2671" y="12179"/>
                    <a:pt x="7425" y="7425"/>
                  </a:cubicBezTo>
                  <a:cubicBezTo>
                    <a:pt x="12179" y="2671"/>
                    <a:pt x="18626" y="0"/>
                    <a:pt x="253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367428" cy="121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550283" y="3860143"/>
            <a:ext cx="5191954" cy="4414192"/>
            <a:chOff x="0" y="0"/>
            <a:chExt cx="1367428" cy="116258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67428" cy="1162586"/>
            </a:xfrm>
            <a:custGeom>
              <a:avLst/>
              <a:gdLst/>
              <a:ahLst/>
              <a:cxnLst/>
              <a:rect l="l" t="t" r="r" b="b"/>
              <a:pathLst>
                <a:path w="1367428" h="1162586">
                  <a:moveTo>
                    <a:pt x="25349" y="0"/>
                  </a:moveTo>
                  <a:lnTo>
                    <a:pt x="1342079" y="0"/>
                  </a:lnTo>
                  <a:cubicBezTo>
                    <a:pt x="1348802" y="0"/>
                    <a:pt x="1355250" y="2671"/>
                    <a:pt x="1360004" y="7425"/>
                  </a:cubicBezTo>
                  <a:cubicBezTo>
                    <a:pt x="1364757" y="12179"/>
                    <a:pt x="1367428" y="18626"/>
                    <a:pt x="1367428" y="25349"/>
                  </a:cubicBezTo>
                  <a:lnTo>
                    <a:pt x="1367428" y="1137236"/>
                  </a:lnTo>
                  <a:cubicBezTo>
                    <a:pt x="1367428" y="1151236"/>
                    <a:pt x="1356079" y="1162586"/>
                    <a:pt x="1342079" y="1162586"/>
                  </a:cubicBezTo>
                  <a:lnTo>
                    <a:pt x="25349" y="1162586"/>
                  </a:lnTo>
                  <a:cubicBezTo>
                    <a:pt x="18626" y="1162586"/>
                    <a:pt x="12179" y="1159915"/>
                    <a:pt x="7425" y="1155161"/>
                  </a:cubicBezTo>
                  <a:cubicBezTo>
                    <a:pt x="2671" y="1150407"/>
                    <a:pt x="0" y="1143959"/>
                    <a:pt x="0" y="1137236"/>
                  </a:cubicBezTo>
                  <a:lnTo>
                    <a:pt x="0" y="25349"/>
                  </a:lnTo>
                  <a:cubicBezTo>
                    <a:pt x="0" y="18626"/>
                    <a:pt x="2671" y="12179"/>
                    <a:pt x="7425" y="7425"/>
                  </a:cubicBezTo>
                  <a:cubicBezTo>
                    <a:pt x="12179" y="2671"/>
                    <a:pt x="18626" y="0"/>
                    <a:pt x="253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367428" cy="121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208962" y="3860143"/>
            <a:ext cx="5191954" cy="4414192"/>
            <a:chOff x="0" y="0"/>
            <a:chExt cx="1367428" cy="116258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67428" cy="1162586"/>
            </a:xfrm>
            <a:custGeom>
              <a:avLst/>
              <a:gdLst/>
              <a:ahLst/>
              <a:cxnLst/>
              <a:rect l="l" t="t" r="r" b="b"/>
              <a:pathLst>
                <a:path w="1367428" h="1162586">
                  <a:moveTo>
                    <a:pt x="25349" y="0"/>
                  </a:moveTo>
                  <a:lnTo>
                    <a:pt x="1342079" y="0"/>
                  </a:lnTo>
                  <a:cubicBezTo>
                    <a:pt x="1348802" y="0"/>
                    <a:pt x="1355250" y="2671"/>
                    <a:pt x="1360004" y="7425"/>
                  </a:cubicBezTo>
                  <a:cubicBezTo>
                    <a:pt x="1364757" y="12179"/>
                    <a:pt x="1367428" y="18626"/>
                    <a:pt x="1367428" y="25349"/>
                  </a:cubicBezTo>
                  <a:lnTo>
                    <a:pt x="1367428" y="1137236"/>
                  </a:lnTo>
                  <a:cubicBezTo>
                    <a:pt x="1367428" y="1151236"/>
                    <a:pt x="1356079" y="1162586"/>
                    <a:pt x="1342079" y="1162586"/>
                  </a:cubicBezTo>
                  <a:lnTo>
                    <a:pt x="25349" y="1162586"/>
                  </a:lnTo>
                  <a:cubicBezTo>
                    <a:pt x="18626" y="1162586"/>
                    <a:pt x="12179" y="1159915"/>
                    <a:pt x="7425" y="1155161"/>
                  </a:cubicBezTo>
                  <a:cubicBezTo>
                    <a:pt x="2671" y="1150407"/>
                    <a:pt x="0" y="1143959"/>
                    <a:pt x="0" y="1137236"/>
                  </a:cubicBezTo>
                  <a:lnTo>
                    <a:pt x="0" y="25349"/>
                  </a:lnTo>
                  <a:cubicBezTo>
                    <a:pt x="0" y="18626"/>
                    <a:pt x="2671" y="12179"/>
                    <a:pt x="7425" y="7425"/>
                  </a:cubicBezTo>
                  <a:cubicBezTo>
                    <a:pt x="12179" y="2671"/>
                    <a:pt x="18626" y="0"/>
                    <a:pt x="253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367428" cy="121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2823647" y="3957339"/>
            <a:ext cx="1313394" cy="1313394"/>
          </a:xfrm>
          <a:custGeom>
            <a:avLst/>
            <a:gdLst/>
            <a:ahLst/>
            <a:cxnLst/>
            <a:rect l="l" t="t" r="r" b="b"/>
            <a:pathLst>
              <a:path w="1313394" h="1313394">
                <a:moveTo>
                  <a:pt x="0" y="0"/>
                </a:moveTo>
                <a:lnTo>
                  <a:pt x="1313394" y="0"/>
                </a:lnTo>
                <a:lnTo>
                  <a:pt x="1313394" y="1313395"/>
                </a:lnTo>
                <a:lnTo>
                  <a:pt x="0" y="13133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112486" y="4191482"/>
            <a:ext cx="2067547" cy="845110"/>
          </a:xfrm>
          <a:custGeom>
            <a:avLst/>
            <a:gdLst/>
            <a:ahLst/>
            <a:cxnLst/>
            <a:rect l="l" t="t" r="r" b="b"/>
            <a:pathLst>
              <a:path w="2067547" h="845110">
                <a:moveTo>
                  <a:pt x="0" y="0"/>
                </a:moveTo>
                <a:lnTo>
                  <a:pt x="2067548" y="0"/>
                </a:lnTo>
                <a:lnTo>
                  <a:pt x="2067548" y="845109"/>
                </a:lnTo>
                <a:lnTo>
                  <a:pt x="0" y="845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4158682" y="4097031"/>
            <a:ext cx="1292514" cy="1034011"/>
          </a:xfrm>
          <a:custGeom>
            <a:avLst/>
            <a:gdLst/>
            <a:ahLst/>
            <a:cxnLst/>
            <a:rect l="l" t="t" r="r" b="b"/>
            <a:pathLst>
              <a:path w="1292514" h="1034011">
                <a:moveTo>
                  <a:pt x="0" y="0"/>
                </a:moveTo>
                <a:lnTo>
                  <a:pt x="1292514" y="0"/>
                </a:lnTo>
                <a:lnTo>
                  <a:pt x="1292514" y="1034011"/>
                </a:lnTo>
                <a:lnTo>
                  <a:pt x="0" y="10340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0" y="-206280"/>
            <a:ext cx="18288000" cy="175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22"/>
              </a:lnSpc>
              <a:spcBef>
                <a:spcPct val="0"/>
              </a:spcBef>
            </a:pPr>
            <a:r>
              <a:rPr lang="en-US" sz="1001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Đánh giá hiệu năng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711309" y="5374950"/>
            <a:ext cx="1538071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60 FPS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86067" y="5374950"/>
            <a:ext cx="2920387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150MB RAM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29954" y="5374950"/>
            <a:ext cx="2349969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BFS &lt; 1ms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6410589"/>
            <a:ext cx="4903288" cy="112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Ổn định trên máy cấu hình văn phòng.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90997" y="6410589"/>
            <a:ext cx="4903288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nhờ Object Pooling.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361362" y="6410589"/>
            <a:ext cx="4903288" cy="112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Thuật toán chạy cực nhanh, không gây lag.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2709"/>
            <a:ext cx="18288000" cy="1643584"/>
            <a:chOff x="0" y="0"/>
            <a:chExt cx="4816593" cy="4328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32878"/>
            </a:xfrm>
            <a:custGeom>
              <a:avLst/>
              <a:gdLst/>
              <a:ahLst/>
              <a:cxnLst/>
              <a:rect l="l" t="t" r="r" b="b"/>
              <a:pathLst>
                <a:path w="4816592" h="432878">
                  <a:moveTo>
                    <a:pt x="0" y="0"/>
                  </a:moveTo>
                  <a:lnTo>
                    <a:pt x="4816592" y="0"/>
                  </a:lnTo>
                  <a:lnTo>
                    <a:pt x="4816592" y="432878"/>
                  </a:lnTo>
                  <a:lnTo>
                    <a:pt x="0" y="432878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49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32709"/>
            <a:ext cx="1678186" cy="1643584"/>
          </a:xfrm>
          <a:custGeom>
            <a:avLst/>
            <a:gdLst/>
            <a:ahLst/>
            <a:cxnLst/>
            <a:rect l="l" t="t" r="r" b="b"/>
            <a:pathLst>
              <a:path w="1678186" h="1643584">
                <a:moveTo>
                  <a:pt x="0" y="0"/>
                </a:moveTo>
                <a:lnTo>
                  <a:pt x="1678186" y="0"/>
                </a:lnTo>
                <a:lnTo>
                  <a:pt x="1678186" y="1643584"/>
                </a:lnTo>
                <a:lnTo>
                  <a:pt x="0" y="1643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39093" y="-206280"/>
            <a:ext cx="17448907" cy="175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22"/>
              </a:lnSpc>
              <a:spcBef>
                <a:spcPct val="0"/>
              </a:spcBef>
            </a:pPr>
            <a:r>
              <a:rPr lang="en-US" sz="1001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Kết luận và một số hạn chế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23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3476005"/>
            <a:ext cx="7710119" cy="4975300"/>
            <a:chOff x="0" y="0"/>
            <a:chExt cx="2030649" cy="13103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30649" cy="1310367"/>
            </a:xfrm>
            <a:custGeom>
              <a:avLst/>
              <a:gdLst/>
              <a:ahLst/>
              <a:cxnLst/>
              <a:rect l="l" t="t" r="r" b="b"/>
              <a:pathLst>
                <a:path w="2030649" h="1310367">
                  <a:moveTo>
                    <a:pt x="17070" y="0"/>
                  </a:moveTo>
                  <a:lnTo>
                    <a:pt x="2013579" y="0"/>
                  </a:lnTo>
                  <a:cubicBezTo>
                    <a:pt x="2023006" y="0"/>
                    <a:pt x="2030649" y="7643"/>
                    <a:pt x="2030649" y="17070"/>
                  </a:cubicBezTo>
                  <a:lnTo>
                    <a:pt x="2030649" y="1293297"/>
                  </a:lnTo>
                  <a:cubicBezTo>
                    <a:pt x="2030649" y="1302725"/>
                    <a:pt x="2023006" y="1310367"/>
                    <a:pt x="2013579" y="1310367"/>
                  </a:cubicBezTo>
                  <a:lnTo>
                    <a:pt x="17070" y="1310367"/>
                  </a:lnTo>
                  <a:cubicBezTo>
                    <a:pt x="7643" y="1310367"/>
                    <a:pt x="0" y="1302725"/>
                    <a:pt x="0" y="1293297"/>
                  </a:cubicBezTo>
                  <a:lnTo>
                    <a:pt x="0" y="17070"/>
                  </a:lnTo>
                  <a:cubicBezTo>
                    <a:pt x="0" y="7643"/>
                    <a:pt x="7643" y="0"/>
                    <a:pt x="1707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030649" cy="13579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`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482026" y="3476005"/>
            <a:ext cx="7777274" cy="4975300"/>
            <a:chOff x="0" y="0"/>
            <a:chExt cx="2048336" cy="13103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48336" cy="1310367"/>
            </a:xfrm>
            <a:custGeom>
              <a:avLst/>
              <a:gdLst/>
              <a:ahLst/>
              <a:cxnLst/>
              <a:rect l="l" t="t" r="r" b="b"/>
              <a:pathLst>
                <a:path w="2048336" h="1310367">
                  <a:moveTo>
                    <a:pt x="16923" y="0"/>
                  </a:moveTo>
                  <a:lnTo>
                    <a:pt x="2031413" y="0"/>
                  </a:lnTo>
                  <a:cubicBezTo>
                    <a:pt x="2035901" y="0"/>
                    <a:pt x="2040206" y="1783"/>
                    <a:pt x="2043379" y="4957"/>
                  </a:cubicBezTo>
                  <a:cubicBezTo>
                    <a:pt x="2046553" y="8130"/>
                    <a:pt x="2048336" y="12435"/>
                    <a:pt x="2048336" y="16923"/>
                  </a:cubicBezTo>
                  <a:lnTo>
                    <a:pt x="2048336" y="1293444"/>
                  </a:lnTo>
                  <a:cubicBezTo>
                    <a:pt x="2048336" y="1297933"/>
                    <a:pt x="2046553" y="1302237"/>
                    <a:pt x="2043379" y="1305411"/>
                  </a:cubicBezTo>
                  <a:cubicBezTo>
                    <a:pt x="2040206" y="1308584"/>
                    <a:pt x="2035901" y="1310367"/>
                    <a:pt x="2031413" y="1310367"/>
                  </a:cubicBezTo>
                  <a:lnTo>
                    <a:pt x="16923" y="1310367"/>
                  </a:lnTo>
                  <a:cubicBezTo>
                    <a:pt x="12435" y="1310367"/>
                    <a:pt x="8130" y="1308584"/>
                    <a:pt x="4957" y="1305411"/>
                  </a:cubicBezTo>
                  <a:cubicBezTo>
                    <a:pt x="1783" y="1302237"/>
                    <a:pt x="0" y="1297933"/>
                    <a:pt x="0" y="1293444"/>
                  </a:cubicBezTo>
                  <a:lnTo>
                    <a:pt x="0" y="16923"/>
                  </a:lnTo>
                  <a:cubicBezTo>
                    <a:pt x="0" y="12435"/>
                    <a:pt x="1783" y="8130"/>
                    <a:pt x="4957" y="4957"/>
                  </a:cubicBezTo>
                  <a:cubicBezTo>
                    <a:pt x="8130" y="1783"/>
                    <a:pt x="12435" y="0"/>
                    <a:pt x="1692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2048336" cy="13579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`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68869" y="3740150"/>
            <a:ext cx="7018709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Đạt được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68869" y="5338763"/>
            <a:ext cx="7078645" cy="2252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Giải quyết trọn vẹn bài toán gameplay.</a:t>
            </a: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Áp dụng thành công Grid System và AI.</a:t>
            </a: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tổ chức khoa học, dễ bảo trì.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71405" y="5338763"/>
            <a:ext cx="7078645" cy="1690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Đôi khi chưa tối ưu “bẫy” người chơi. </a:t>
            </a: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Chưa có Multiplayer Online.</a:t>
            </a: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Skin chưa đa dạng.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31341" y="3740150"/>
            <a:ext cx="7018709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Hạn chế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2709"/>
            <a:ext cx="18288000" cy="1643584"/>
            <a:chOff x="0" y="0"/>
            <a:chExt cx="4816593" cy="4328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32878"/>
            </a:xfrm>
            <a:custGeom>
              <a:avLst/>
              <a:gdLst/>
              <a:ahLst/>
              <a:cxnLst/>
              <a:rect l="l" t="t" r="r" b="b"/>
              <a:pathLst>
                <a:path w="4816592" h="432878">
                  <a:moveTo>
                    <a:pt x="0" y="0"/>
                  </a:moveTo>
                  <a:lnTo>
                    <a:pt x="4816592" y="0"/>
                  </a:lnTo>
                  <a:lnTo>
                    <a:pt x="4816592" y="432878"/>
                  </a:lnTo>
                  <a:lnTo>
                    <a:pt x="0" y="432878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49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89607" y="32709"/>
            <a:ext cx="1678186" cy="1643584"/>
          </a:xfrm>
          <a:custGeom>
            <a:avLst/>
            <a:gdLst/>
            <a:ahLst/>
            <a:cxnLst/>
            <a:rect l="l" t="t" r="r" b="b"/>
            <a:pathLst>
              <a:path w="1678186" h="1643584">
                <a:moveTo>
                  <a:pt x="0" y="0"/>
                </a:moveTo>
                <a:lnTo>
                  <a:pt x="1678186" y="0"/>
                </a:lnTo>
                <a:lnTo>
                  <a:pt x="1678186" y="1643584"/>
                </a:lnTo>
                <a:lnTo>
                  <a:pt x="0" y="1643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070941" y="290638"/>
            <a:ext cx="4684222" cy="1127727"/>
          </a:xfrm>
          <a:custGeom>
            <a:avLst/>
            <a:gdLst/>
            <a:ahLst/>
            <a:cxnLst/>
            <a:rect l="l" t="t" r="r" b="b"/>
            <a:pathLst>
              <a:path w="4684222" h="1127727">
                <a:moveTo>
                  <a:pt x="0" y="0"/>
                </a:moveTo>
                <a:lnTo>
                  <a:pt x="4684222" y="0"/>
                </a:lnTo>
                <a:lnTo>
                  <a:pt x="4684222" y="1127726"/>
                </a:lnTo>
                <a:lnTo>
                  <a:pt x="0" y="11277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511" t="-10931" r="-70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120235" y="6464320"/>
            <a:ext cx="2171784" cy="2944792"/>
          </a:xfrm>
          <a:custGeom>
            <a:avLst/>
            <a:gdLst/>
            <a:ahLst/>
            <a:cxnLst/>
            <a:rect l="l" t="t" r="r" b="b"/>
            <a:pathLst>
              <a:path w="2171784" h="2944792">
                <a:moveTo>
                  <a:pt x="0" y="0"/>
                </a:moveTo>
                <a:lnTo>
                  <a:pt x="2171785" y="0"/>
                </a:lnTo>
                <a:lnTo>
                  <a:pt x="2171785" y="2944792"/>
                </a:lnTo>
                <a:lnTo>
                  <a:pt x="0" y="29447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28700" y="1676293"/>
            <a:ext cx="16230600" cy="4788027"/>
          </a:xfrm>
          <a:custGeom>
            <a:avLst/>
            <a:gdLst/>
            <a:ahLst/>
            <a:cxnLst/>
            <a:rect l="l" t="t" r="r" b="b"/>
            <a:pathLst>
              <a:path w="16230600" h="4788027">
                <a:moveTo>
                  <a:pt x="0" y="0"/>
                </a:moveTo>
                <a:lnTo>
                  <a:pt x="16230600" y="0"/>
                </a:lnTo>
                <a:lnTo>
                  <a:pt x="16230600" y="4788027"/>
                </a:lnTo>
                <a:lnTo>
                  <a:pt x="0" y="47880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867793" y="6464320"/>
            <a:ext cx="2421030" cy="2747268"/>
          </a:xfrm>
          <a:custGeom>
            <a:avLst/>
            <a:gdLst/>
            <a:ahLst/>
            <a:cxnLst/>
            <a:rect l="l" t="t" r="r" b="b"/>
            <a:pathLst>
              <a:path w="2421030" h="2747268">
                <a:moveTo>
                  <a:pt x="0" y="0"/>
                </a:moveTo>
                <a:lnTo>
                  <a:pt x="2421030" y="0"/>
                </a:lnTo>
                <a:lnTo>
                  <a:pt x="2421030" y="2747268"/>
                </a:lnTo>
                <a:lnTo>
                  <a:pt x="0" y="27472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1657702" y="260796"/>
            <a:ext cx="6548567" cy="1101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7"/>
              </a:lnSpc>
              <a:spcBef>
                <a:spcPct val="0"/>
              </a:spcBef>
            </a:pPr>
            <a:r>
              <a:rPr lang="en-US" sz="307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THỰC TẬP ĐỒ ÁN CƠ SỞ NGÀNH</a:t>
            </a:r>
          </a:p>
          <a:p>
            <a:pPr algn="ctr">
              <a:lnSpc>
                <a:spcPts val="4307"/>
              </a:lnSpc>
              <a:spcBef>
                <a:spcPct val="0"/>
              </a:spcBef>
            </a:pPr>
            <a:r>
              <a:rPr lang="en-US" sz="307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HỌC KỲ I, NĂM HỌC 2025-2026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17636" y="4733108"/>
            <a:ext cx="7252728" cy="140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2F7E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EM XIN CẢM ƠN QUÝ THẦY CÔ ĐÃ LẮNG NGHE!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35894" y="6416695"/>
            <a:ext cx="10416213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Em rất mong nhận được những ý kiến đóng góp quý báu của các Thầy, Cô giành cho đề tài của em ạ!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1462</Words>
  <Application>Microsoft Office PowerPoint</Application>
  <PresentationFormat>Custom</PresentationFormat>
  <Paragraphs>266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Times New Roman Bold</vt:lpstr>
      <vt:lpstr>Times New Roman</vt:lpstr>
      <vt:lpstr>Noto Sans</vt:lpstr>
      <vt:lpstr>Times New Roman Italics</vt:lpstr>
      <vt:lpstr>Arial</vt:lpstr>
      <vt:lpstr>Noto Sans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Nội dung đoạn văn bản của bạn</dc:title>
  <cp:lastModifiedBy>Hoang Long Tran</cp:lastModifiedBy>
  <cp:revision>2</cp:revision>
  <dcterms:created xsi:type="dcterms:W3CDTF">2006-08-16T00:00:00Z</dcterms:created>
  <dcterms:modified xsi:type="dcterms:W3CDTF">2026-01-09T11:24:08Z</dcterms:modified>
  <dc:identifier>DAG8z3PnAZY</dc:identifier>
</cp:coreProperties>
</file>